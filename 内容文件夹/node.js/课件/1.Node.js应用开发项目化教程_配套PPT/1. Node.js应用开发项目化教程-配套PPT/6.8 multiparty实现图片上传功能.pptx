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92" r:id="rId4"/>
    <p:sldId id="479" r:id="rId6"/>
    <p:sldId id="493" r:id="rId7"/>
    <p:sldId id="508" r:id="rId8"/>
    <p:sldId id="511" r:id="rId9"/>
    <p:sldId id="481" r:id="rId10"/>
    <p:sldId id="495" r:id="rId11"/>
    <p:sldId id="482" r:id="rId12"/>
    <p:sldId id="483" r:id="rId13"/>
    <p:sldId id="490" r:id="rId14"/>
    <p:sldId id="491" r:id="rId15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C853C"/>
    <a:srgbClr val="F7F6F6"/>
    <a:srgbClr val="CA121C"/>
    <a:srgbClr val="4C944C"/>
    <a:srgbClr val="AFABAB"/>
    <a:srgbClr val="333333"/>
    <a:srgbClr val="232323"/>
    <a:srgbClr val="D8606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44" autoAdjust="0"/>
  </p:normalViewPr>
  <p:slideViewPr>
    <p:cSldViewPr snapToGrid="0" showGuides="1">
      <p:cViewPr varScale="1">
        <p:scale>
          <a:sx n="68" d="100"/>
          <a:sy n="68" d="100"/>
        </p:scale>
        <p:origin x="156" y="72"/>
      </p:cViewPr>
      <p:guideLst>
        <p:guide orient="horz" pos="2225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723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594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tags" Target="../tags/tag598.xml"/><Relationship Id="rId3" Type="http://schemas.openxmlformats.org/officeDocument/2006/relationships/tags" Target="../tags/tag597.xml"/><Relationship Id="rId2" Type="http://schemas.openxmlformats.org/officeDocument/2006/relationships/tags" Target="../tags/tag596.xml"/><Relationship Id="rId1" Type="http://schemas.openxmlformats.org/officeDocument/2006/relationships/tags" Target="../tags/tag59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606.xml"/><Relationship Id="rId7" Type="http://schemas.openxmlformats.org/officeDocument/2006/relationships/image" Target="../media/image5.svg"/><Relationship Id="rId6" Type="http://schemas.openxmlformats.org/officeDocument/2006/relationships/image" Target="../media/image4.jpeg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608.xml"/><Relationship Id="rId10" Type="http://schemas.openxmlformats.org/officeDocument/2006/relationships/tags" Target="../tags/tag607.xml"/><Relationship Id="rId1" Type="http://schemas.openxmlformats.org/officeDocument/2006/relationships/tags" Target="../tags/tag60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16.xml"/><Relationship Id="rId7" Type="http://schemas.openxmlformats.org/officeDocument/2006/relationships/tags" Target="../tags/tag615.xml"/><Relationship Id="rId6" Type="http://schemas.openxmlformats.org/officeDocument/2006/relationships/tags" Target="../tags/tag614.xml"/><Relationship Id="rId5" Type="http://schemas.openxmlformats.org/officeDocument/2006/relationships/tags" Target="../tags/tag613.xml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60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23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tags" Target="../tags/tag622.xml"/><Relationship Id="rId5" Type="http://schemas.openxmlformats.org/officeDocument/2006/relationships/tags" Target="../tags/tag621.xml"/><Relationship Id="rId4" Type="http://schemas.openxmlformats.org/officeDocument/2006/relationships/tags" Target="../tags/tag620.xml"/><Relationship Id="rId3" Type="http://schemas.openxmlformats.org/officeDocument/2006/relationships/tags" Target="../tags/tag619.xml"/><Relationship Id="rId2" Type="http://schemas.openxmlformats.org/officeDocument/2006/relationships/tags" Target="../tags/tag618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6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32.xml"/><Relationship Id="rId8" Type="http://schemas.openxmlformats.org/officeDocument/2006/relationships/tags" Target="../tags/tag631.xml"/><Relationship Id="rId7" Type="http://schemas.openxmlformats.org/officeDocument/2006/relationships/tags" Target="../tags/tag630.xml"/><Relationship Id="rId6" Type="http://schemas.openxmlformats.org/officeDocument/2006/relationships/tags" Target="../tags/tag629.xml"/><Relationship Id="rId5" Type="http://schemas.openxmlformats.org/officeDocument/2006/relationships/tags" Target="../tags/tag628.xml"/><Relationship Id="rId4" Type="http://schemas.openxmlformats.org/officeDocument/2006/relationships/tags" Target="../tags/tag627.xml"/><Relationship Id="rId3" Type="http://schemas.openxmlformats.org/officeDocument/2006/relationships/tags" Target="../tags/tag626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625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40.xml"/><Relationship Id="rId17" Type="http://schemas.openxmlformats.org/officeDocument/2006/relationships/tags" Target="../tags/tag639.xml"/><Relationship Id="rId16" Type="http://schemas.openxmlformats.org/officeDocument/2006/relationships/image" Target="../media/image9.png"/><Relationship Id="rId15" Type="http://schemas.openxmlformats.org/officeDocument/2006/relationships/tags" Target="../tags/tag638.xml"/><Relationship Id="rId14" Type="http://schemas.openxmlformats.org/officeDocument/2006/relationships/tags" Target="../tags/tag637.xml"/><Relationship Id="rId13" Type="http://schemas.openxmlformats.org/officeDocument/2006/relationships/tags" Target="../tags/tag636.xml"/><Relationship Id="rId12" Type="http://schemas.openxmlformats.org/officeDocument/2006/relationships/tags" Target="../tags/tag635.xml"/><Relationship Id="rId11" Type="http://schemas.openxmlformats.org/officeDocument/2006/relationships/tags" Target="../tags/tag634.xml"/><Relationship Id="rId10" Type="http://schemas.openxmlformats.org/officeDocument/2006/relationships/tags" Target="../tags/tag633.xml"/><Relationship Id="rId1" Type="http://schemas.openxmlformats.org/officeDocument/2006/relationships/tags" Target="../tags/tag6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49.xml"/><Relationship Id="rId8" Type="http://schemas.openxmlformats.org/officeDocument/2006/relationships/tags" Target="../tags/tag648.xml"/><Relationship Id="rId7" Type="http://schemas.openxmlformats.org/officeDocument/2006/relationships/tags" Target="../tags/tag647.xml"/><Relationship Id="rId6" Type="http://schemas.openxmlformats.org/officeDocument/2006/relationships/tags" Target="../tags/tag646.xml"/><Relationship Id="rId5" Type="http://schemas.openxmlformats.org/officeDocument/2006/relationships/tags" Target="../tags/tag645.xml"/><Relationship Id="rId4" Type="http://schemas.openxmlformats.org/officeDocument/2006/relationships/tags" Target="../tags/tag644.xml"/><Relationship Id="rId3" Type="http://schemas.openxmlformats.org/officeDocument/2006/relationships/tags" Target="../tags/tag643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642.xml"/><Relationship Id="rId19" Type="http://schemas.openxmlformats.org/officeDocument/2006/relationships/tags" Target="../tags/tag658.xml"/><Relationship Id="rId18" Type="http://schemas.openxmlformats.org/officeDocument/2006/relationships/tags" Target="../tags/tag657.xml"/><Relationship Id="rId17" Type="http://schemas.openxmlformats.org/officeDocument/2006/relationships/image" Target="../media/image7.png"/><Relationship Id="rId16" Type="http://schemas.openxmlformats.org/officeDocument/2006/relationships/tags" Target="../tags/tag656.xml"/><Relationship Id="rId15" Type="http://schemas.openxmlformats.org/officeDocument/2006/relationships/tags" Target="../tags/tag655.xml"/><Relationship Id="rId14" Type="http://schemas.openxmlformats.org/officeDocument/2006/relationships/tags" Target="../tags/tag654.xml"/><Relationship Id="rId13" Type="http://schemas.openxmlformats.org/officeDocument/2006/relationships/tags" Target="../tags/tag653.xml"/><Relationship Id="rId12" Type="http://schemas.openxmlformats.org/officeDocument/2006/relationships/tags" Target="../tags/tag652.xml"/><Relationship Id="rId11" Type="http://schemas.openxmlformats.org/officeDocument/2006/relationships/tags" Target="../tags/tag651.xml"/><Relationship Id="rId10" Type="http://schemas.openxmlformats.org/officeDocument/2006/relationships/tags" Target="../tags/tag650.xml"/><Relationship Id="rId1" Type="http://schemas.openxmlformats.org/officeDocument/2006/relationships/tags" Target="../tags/tag64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667.xml"/><Relationship Id="rId8" Type="http://schemas.openxmlformats.org/officeDocument/2006/relationships/tags" Target="../tags/tag666.xml"/><Relationship Id="rId7" Type="http://schemas.openxmlformats.org/officeDocument/2006/relationships/tags" Target="../tags/tag665.xml"/><Relationship Id="rId6" Type="http://schemas.openxmlformats.org/officeDocument/2006/relationships/tags" Target="../tags/tag664.xml"/><Relationship Id="rId5" Type="http://schemas.openxmlformats.org/officeDocument/2006/relationships/tags" Target="../tags/tag663.xml"/><Relationship Id="rId4" Type="http://schemas.openxmlformats.org/officeDocument/2006/relationships/tags" Target="../tags/tag662.xml"/><Relationship Id="rId3" Type="http://schemas.openxmlformats.org/officeDocument/2006/relationships/tags" Target="../tags/tag661.xml"/><Relationship Id="rId22" Type="http://schemas.openxmlformats.org/officeDocument/2006/relationships/notesSlide" Target="../notesSlides/notesSlide9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76.xml"/><Relationship Id="rId2" Type="http://schemas.openxmlformats.org/officeDocument/2006/relationships/tags" Target="../tags/tag660.xml"/><Relationship Id="rId19" Type="http://schemas.openxmlformats.org/officeDocument/2006/relationships/tags" Target="../tags/tag675.xml"/><Relationship Id="rId18" Type="http://schemas.openxmlformats.org/officeDocument/2006/relationships/image" Target="../media/image8.png"/><Relationship Id="rId17" Type="http://schemas.openxmlformats.org/officeDocument/2006/relationships/image" Target="../media/image7.png"/><Relationship Id="rId16" Type="http://schemas.openxmlformats.org/officeDocument/2006/relationships/tags" Target="../tags/tag674.xml"/><Relationship Id="rId15" Type="http://schemas.openxmlformats.org/officeDocument/2006/relationships/tags" Target="../tags/tag673.xml"/><Relationship Id="rId14" Type="http://schemas.openxmlformats.org/officeDocument/2006/relationships/tags" Target="../tags/tag672.xml"/><Relationship Id="rId13" Type="http://schemas.openxmlformats.org/officeDocument/2006/relationships/tags" Target="../tags/tag671.xml"/><Relationship Id="rId12" Type="http://schemas.openxmlformats.org/officeDocument/2006/relationships/tags" Target="../tags/tag670.xml"/><Relationship Id="rId11" Type="http://schemas.openxmlformats.org/officeDocument/2006/relationships/tags" Target="../tags/tag669.xml"/><Relationship Id="rId10" Type="http://schemas.openxmlformats.org/officeDocument/2006/relationships/tags" Target="../tags/tag668.xml"/><Relationship Id="rId1" Type="http://schemas.openxmlformats.org/officeDocument/2006/relationships/tags" Target="../tags/tag65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6" Type="http://schemas.openxmlformats.org/officeDocument/2006/relationships/notesSlide" Target="../notesSlides/notesSlide10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720.xml"/><Relationship Id="rId43" Type="http://schemas.openxmlformats.org/officeDocument/2006/relationships/tags" Target="../tags/tag719.xml"/><Relationship Id="rId42" Type="http://schemas.openxmlformats.org/officeDocument/2006/relationships/tags" Target="../tags/tag718.xml"/><Relationship Id="rId41" Type="http://schemas.openxmlformats.org/officeDocument/2006/relationships/tags" Target="../tags/tag717.xml"/><Relationship Id="rId40" Type="http://schemas.openxmlformats.org/officeDocument/2006/relationships/tags" Target="../tags/tag716.xml"/><Relationship Id="rId4" Type="http://schemas.openxmlformats.org/officeDocument/2006/relationships/tags" Target="../tags/tag680.xml"/><Relationship Id="rId39" Type="http://schemas.openxmlformats.org/officeDocument/2006/relationships/tags" Target="../tags/tag715.xml"/><Relationship Id="rId38" Type="http://schemas.openxmlformats.org/officeDocument/2006/relationships/tags" Target="../tags/tag714.xml"/><Relationship Id="rId37" Type="http://schemas.openxmlformats.org/officeDocument/2006/relationships/tags" Target="../tags/tag713.xml"/><Relationship Id="rId36" Type="http://schemas.openxmlformats.org/officeDocument/2006/relationships/tags" Target="../tags/tag712.xml"/><Relationship Id="rId35" Type="http://schemas.openxmlformats.org/officeDocument/2006/relationships/tags" Target="../tags/tag711.xml"/><Relationship Id="rId34" Type="http://schemas.openxmlformats.org/officeDocument/2006/relationships/tags" Target="../tags/tag710.xml"/><Relationship Id="rId33" Type="http://schemas.openxmlformats.org/officeDocument/2006/relationships/tags" Target="../tags/tag709.xml"/><Relationship Id="rId32" Type="http://schemas.openxmlformats.org/officeDocument/2006/relationships/tags" Target="../tags/tag708.xml"/><Relationship Id="rId31" Type="http://schemas.openxmlformats.org/officeDocument/2006/relationships/tags" Target="../tags/tag707.xml"/><Relationship Id="rId30" Type="http://schemas.openxmlformats.org/officeDocument/2006/relationships/tags" Target="../tags/tag706.xml"/><Relationship Id="rId3" Type="http://schemas.openxmlformats.org/officeDocument/2006/relationships/tags" Target="../tags/tag679.xml"/><Relationship Id="rId29" Type="http://schemas.openxmlformats.org/officeDocument/2006/relationships/tags" Target="../tags/tag705.xml"/><Relationship Id="rId28" Type="http://schemas.openxmlformats.org/officeDocument/2006/relationships/tags" Target="../tags/tag704.xml"/><Relationship Id="rId27" Type="http://schemas.openxmlformats.org/officeDocument/2006/relationships/tags" Target="../tags/tag703.xml"/><Relationship Id="rId26" Type="http://schemas.openxmlformats.org/officeDocument/2006/relationships/tags" Target="../tags/tag702.xml"/><Relationship Id="rId25" Type="http://schemas.openxmlformats.org/officeDocument/2006/relationships/tags" Target="../tags/tag701.xml"/><Relationship Id="rId24" Type="http://schemas.openxmlformats.org/officeDocument/2006/relationships/tags" Target="../tags/tag700.xml"/><Relationship Id="rId23" Type="http://schemas.openxmlformats.org/officeDocument/2006/relationships/tags" Target="../tags/tag699.xml"/><Relationship Id="rId22" Type="http://schemas.openxmlformats.org/officeDocument/2006/relationships/tags" Target="../tags/tag698.xml"/><Relationship Id="rId21" Type="http://schemas.openxmlformats.org/officeDocument/2006/relationships/tags" Target="../tags/tag697.xml"/><Relationship Id="rId20" Type="http://schemas.openxmlformats.org/officeDocument/2006/relationships/tags" Target="../tags/tag696.xml"/><Relationship Id="rId2" Type="http://schemas.openxmlformats.org/officeDocument/2006/relationships/tags" Target="../tags/tag678.xml"/><Relationship Id="rId19" Type="http://schemas.openxmlformats.org/officeDocument/2006/relationships/tags" Target="../tags/tag695.xml"/><Relationship Id="rId18" Type="http://schemas.openxmlformats.org/officeDocument/2006/relationships/tags" Target="../tags/tag694.xml"/><Relationship Id="rId17" Type="http://schemas.openxmlformats.org/officeDocument/2006/relationships/tags" Target="../tags/tag693.xml"/><Relationship Id="rId16" Type="http://schemas.openxmlformats.org/officeDocument/2006/relationships/tags" Target="../tags/tag692.xml"/><Relationship Id="rId15" Type="http://schemas.openxmlformats.org/officeDocument/2006/relationships/tags" Target="../tags/tag691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722.xml"/><Relationship Id="rId1" Type="http://schemas.openxmlformats.org/officeDocument/2006/relationships/tags" Target="../tags/tag7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5" y="2195830"/>
            <a:ext cx="12099925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7100" spc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multiparty</a:t>
            </a:r>
            <a:endParaRPr lang="en-US" altLang="zh-CN" sz="7100" spc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100" spc="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实现图片上传功能</a:t>
            </a:r>
            <a:endParaRPr lang="zh-CN" altLang="en-US" sz="7100" spc="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12835" y="53244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0" name="图片 39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3013249" y="4901885"/>
            <a:ext cx="6283325" cy="1196731"/>
            <a:chOff x="2643438" y="4764377"/>
            <a:chExt cx="6283325" cy="1196731"/>
          </a:xfrm>
        </p:grpSpPr>
        <p:sp>
          <p:nvSpPr>
            <p:cNvPr id="127" name="TextBox 31"/>
            <p:cNvSpPr txBox="1">
              <a:spLocks noChangeArrowheads="1"/>
            </p:cNvSpPr>
            <p:nvPr/>
          </p:nvSpPr>
          <p:spPr bwMode="auto">
            <a:xfrm>
              <a:off x="3098733" y="5048857"/>
              <a:ext cx="5828030" cy="47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</a:t>
              </a:r>
              <a:r>
                <a:rPr lang="zh-CN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实现图片的上传功能</a:t>
              </a:r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461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2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3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4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5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6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7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8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9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1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2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3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4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5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6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7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8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9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0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1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2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3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4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5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6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7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8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9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0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1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2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3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4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5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6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7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8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9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0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1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2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3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4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5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6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7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8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9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0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1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2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3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4" name="isľíďe"/>
              <p:cNvSpPr/>
              <p:nvPr/>
            </p:nvSpPr>
            <p:spPr bwMode="auto">
              <a:xfrm>
                <a:off x="6512291" y="3212158"/>
                <a:ext cx="1689527" cy="606723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5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6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7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8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9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0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1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2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3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4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5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6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7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745" y="2003425"/>
            <a:ext cx="3550285" cy="21494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230" y="1753235"/>
            <a:ext cx="3865880" cy="27781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2244725" y="3084830"/>
            <a:ext cx="4677410" cy="699135"/>
            <a:chOff x="2948" y="4855"/>
            <a:chExt cx="7366" cy="1101"/>
          </a:xfrm>
        </p:grpSpPr>
        <p:sp>
          <p:nvSpPr>
            <p:cNvPr id="3" name="矩形 2"/>
            <p:cNvSpPr/>
            <p:nvPr>
              <p:custDataLst>
                <p:tags r:id="rId1"/>
              </p:custDataLst>
            </p:nvPr>
          </p:nvSpPr>
          <p:spPr>
            <a:xfrm>
              <a:off x="2948" y="48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"/>
              </p:custDataLst>
            </p:nvPr>
          </p:nvSpPr>
          <p:spPr>
            <a:xfrm>
              <a:off x="4221" y="5030"/>
              <a:ext cx="6093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multiparty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模块简介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456680" y="3084830"/>
            <a:ext cx="5043805" cy="699135"/>
            <a:chOff x="12853" y="4855"/>
            <a:chExt cx="7943" cy="1101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12853" y="4855"/>
              <a:ext cx="1101" cy="1101"/>
            </a:xfrm>
            <a:prstGeom prst="rect">
              <a:avLst/>
            </a:prstGeom>
            <a:solidFill>
              <a:srgbClr val="15C2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14126" y="5030"/>
              <a:ext cx="6670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使用</a:t>
              </a: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multiparty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实现</a:t>
              </a:r>
              <a:r>
                <a:rPr 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图片上传</a:t>
              </a:r>
              <a:endParaRPr lang="zh-CN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871802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8915" y="1878330"/>
            <a:ext cx="1345565" cy="361442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80" y="1881505"/>
            <a:ext cx="245110" cy="3610610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280" y="3269407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1991995" y="1773555"/>
            <a:ext cx="6825615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8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multiparty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20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主要用于解析表单提交的文本和文件内容，可以对接收到的表单上传数据进行分割过滤。</a:t>
            </a:r>
            <a:endParaRPr lang="en-US" altLang="zh-CN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20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是</a:t>
            </a:r>
            <a:r>
              <a:rPr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轻量级的</a:t>
            </a:r>
            <a:r>
              <a:rPr lang="zh-CN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第三方</a:t>
            </a:r>
            <a:r>
              <a:rPr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r>
              <a:rPr lang="zh-CN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，使用前需本地安装。</a:t>
            </a:r>
            <a:endParaRPr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200000"/>
              </a:lnSpc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</a:t>
            </a:r>
            <a:r>
              <a: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用于上传表单页面，获取表单提交文件。</a:t>
            </a:r>
            <a:endParaRPr lang="zh-CN" altLang="en-US" sz="24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 descr="C:/Users/Administrator/Desktop/千库网_数码照片库_摄影图编号18747897.jpg千库网_数码照片库_摄影图编号18747897"/>
          <p:cNvPicPr>
            <a:picLocks noChangeAspect="1"/>
          </p:cNvPicPr>
          <p:nvPr/>
        </p:nvPicPr>
        <p:blipFill>
          <a:blip r:embed="rId9"/>
          <a:srcRect l="13991" r="13991"/>
          <a:stretch>
            <a:fillRect/>
          </a:stretch>
        </p:blipFill>
        <p:spPr>
          <a:xfrm>
            <a:off x="9009380" y="2597785"/>
            <a:ext cx="2580640" cy="2762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970982" y="43943"/>
            <a:ext cx="41287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multiparty模块简介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871802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970982" y="43943"/>
            <a:ext cx="41287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multiparty模块简介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939800" y="2079625"/>
          <a:ext cx="9644380" cy="3204845"/>
        </p:xfrm>
        <a:graphic>
          <a:graphicData uri="http://schemas.openxmlformats.org/drawingml/2006/table">
            <a:tbl>
              <a:tblPr firstRow="1" bandRow="1"/>
              <a:tblGrid>
                <a:gridCol w="1620520"/>
                <a:gridCol w="8023860"/>
              </a:tblGrid>
              <a:tr h="5702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属性</a:t>
                      </a:r>
                      <a:endParaRPr lang="en-US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6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6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5270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encoding</a:t>
                      </a:r>
                      <a:endParaRPr lang="en-US" altLang="zh-CN" sz="160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altLang="zh-CN" sz="1400" b="0" kern="12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设置传入表单域的编码。默认为utf-8（一般不用修改）</a:t>
                      </a:r>
                      <a:endParaRPr altLang="zh-CN" sz="1400" b="0" kern="12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7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altLang="zh-CN" sz="1600" kern="100" dirty="0">
                          <a:effectLst/>
                          <a:latin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maxFieldsSize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设置限制所有字段分配的内存数量，如果数据超过了这个值系统会触发error事件，默认值是2MB。</a:t>
                      </a:r>
                      <a:endParaRPr alt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76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maxFilesSize</a:t>
                      </a:r>
                      <a:endParaRPr lang="en-US" alt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限制所有接受的合并文件的字节数。如果超过了设置值，系统会触发一个错误事件。</a:t>
                      </a:r>
                      <a:endParaRPr alt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57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altLang="zh-CN" sz="1600">
                          <a:effectLst/>
                          <a:latin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autoFiles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2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启动文件事件和禁用部分文件事件。如果你添加了一个文件监听器这个值自动设置为true。</a:t>
                      </a:r>
                      <a:endParaRPr altLang="zh-CN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64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altLang="zh-CN" sz="1600" kern="100" dirty="0">
                          <a:effectLst/>
                          <a:latin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uploadDir</a:t>
                      </a:r>
                      <a:endParaRPr lang="en-US" altLang="zh-CN" sz="1600" b="0" kern="1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altLang="zh-CN" sz="1400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文件上传的位置目录。</a:t>
                      </a:r>
                      <a:r>
                        <a:rPr altLang="zh-CN" sz="1400" kern="100" dirty="0">
                          <a:effectLst/>
                          <a:latin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仅当autoFiles 是true时有意义。</a:t>
                      </a:r>
                      <a:endParaRPr altLang="zh-CN" sz="14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multiparty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模块常用属性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672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971550" y="3746500"/>
            <a:ext cx="9611995" cy="4813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9800" y="4803140"/>
            <a:ext cx="9611995" cy="48133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57" grpId="0" bldLvl="0" animBg="1"/>
      <p:bldP spid="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970982" y="43943"/>
            <a:ext cx="5855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使用multiparty实现图片上传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4"/>
            </p:custDataLst>
          </p:nvPr>
        </p:nvSpPr>
        <p:spPr>
          <a:xfrm>
            <a:off x="2454275" y="1158875"/>
            <a:ext cx="787209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通过表单实现商品图片上传功能。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1175" y="1050925"/>
            <a:ext cx="2367280" cy="614045"/>
            <a:chOff x="805" y="1655"/>
            <a:chExt cx="3728" cy="967"/>
          </a:xfrm>
        </p:grpSpPr>
        <p:sp>
          <p:nvSpPr>
            <p:cNvPr id="95" name="矩形 1"/>
            <p:cNvSpPr/>
            <p:nvPr>
              <p:custDataLst>
                <p:tags r:id="rId5"/>
              </p:custDataLst>
            </p:nvPr>
          </p:nvSpPr>
          <p:spPr bwMode="auto">
            <a:xfrm>
              <a:off x="915" y="196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2081" y="1980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4" name="iconfont-1187-868615"/>
            <p:cNvSpPr/>
            <p:nvPr>
              <p:custDataLst>
                <p:tags r:id="rId6"/>
              </p:custDataLst>
            </p:nvPr>
          </p:nvSpPr>
          <p:spPr>
            <a:xfrm>
              <a:off x="805" y="1655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298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041525"/>
            <a:ext cx="6301740" cy="2854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299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162300"/>
            <a:ext cx="4608830" cy="2114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7" name="矩形 56"/>
          <p:cNvSpPr/>
          <p:nvPr/>
        </p:nvSpPr>
        <p:spPr>
          <a:xfrm>
            <a:off x="6171565" y="3183890"/>
            <a:ext cx="4445635" cy="2667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uiExpand="1" build="p"/>
      <p:bldP spid="57" grpId="0" animBg="1"/>
      <p:bldP spid="5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"/>
            </p:custDataLst>
          </p:nvPr>
        </p:nvSpPr>
        <p:spPr>
          <a:xfrm>
            <a:off x="753110" y="1313815"/>
            <a:ext cx="647382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编写代码</a:t>
            </a:r>
            <a:endParaRPr sz="2400" b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889000" y="159131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1485265" y="409575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468619 w 2468619"/>
              <a:gd name="connsiteY1" fmla="*/ 0 h 641798"/>
              <a:gd name="connsiteX2" fmla="*/ 2468619 w 2468619"/>
              <a:gd name="connsiteY2" fmla="*/ 641798 h 641798"/>
              <a:gd name="connsiteX3" fmla="*/ 0 w 2468619"/>
              <a:gd name="connsiteY3" fmla="*/ 641798 h 641798"/>
              <a:gd name="connsiteX4" fmla="*/ 0 w 2468619"/>
              <a:gd name="connsiteY4" fmla="*/ 631152 h 641798"/>
              <a:gd name="connsiteX5" fmla="*/ 310253 w 2468619"/>
              <a:gd name="connsiteY5" fmla="*/ 320899 h 641798"/>
              <a:gd name="connsiteX6" fmla="*/ 0 w 2468619"/>
              <a:gd name="connsiteY6" fmla="*/ 10646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468619" y="0"/>
                </a:lnTo>
                <a:lnTo>
                  <a:pt x="2468619" y="641798"/>
                </a:lnTo>
                <a:lnTo>
                  <a:pt x="0" y="641798"/>
                </a:lnTo>
                <a:lnTo>
                  <a:pt x="0" y="631152"/>
                </a:lnTo>
                <a:lnTo>
                  <a:pt x="310253" y="320899"/>
                </a:lnTo>
                <a:lnTo>
                  <a:pt x="0" y="106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2829560" y="4229735"/>
            <a:ext cx="192024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index.html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2160905" y="425132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2054225" y="421640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82"/>
          <p:cNvSpPr txBox="1"/>
          <p:nvPr>
            <p:custDataLst>
              <p:tags r:id="rId9"/>
            </p:custDataLst>
          </p:nvPr>
        </p:nvSpPr>
        <p:spPr>
          <a:xfrm>
            <a:off x="1931035" y="2817495"/>
            <a:ext cx="3304540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表单页面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文本框：商品名、价格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文件框：商品图片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10"/>
            </p:custDataLst>
          </p:nvPr>
        </p:nvSpPr>
        <p:spPr>
          <a:xfrm>
            <a:off x="7227570" y="409575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8270875" y="4214495"/>
            <a:ext cx="145923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server.js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567930" y="425069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7461250" y="421576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82"/>
          <p:cNvSpPr txBox="1"/>
          <p:nvPr>
            <p:custDataLst>
              <p:tags r:id="rId14"/>
            </p:custDataLst>
          </p:nvPr>
        </p:nvSpPr>
        <p:spPr>
          <a:xfrm>
            <a:off x="7567930" y="2748915"/>
            <a:ext cx="3492500" cy="156845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服务端文件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multiparty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模块获取表单提交数据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图片上传到指定文件夹中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2" name="图片 11" descr="C:/Users/Administrator/Desktop/QQ图片20240606152710.pngQQ图片2024060615271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3763"/>
          <a:stretch>
            <a:fillRect/>
          </a:stretch>
        </p:blipFill>
        <p:spPr>
          <a:xfrm>
            <a:off x="4974590" y="3037205"/>
            <a:ext cx="2241550" cy="23202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970982" y="43943"/>
            <a:ext cx="5855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使用multiparty实现图片上传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67930" y="5184775"/>
            <a:ext cx="34931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注意：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multiparty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需事先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endParaRPr lang="zh-CN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" grpId="1"/>
      <p:bldP spid="10" grpId="1"/>
      <p:bldP spid="11" grpId="1" animBg="1"/>
      <p:bldP spid="19" grpId="1"/>
      <p:bldP spid="5" grpId="1" animBg="1"/>
      <p:bldP spid="9" grpId="0"/>
      <p:bldP spid="4" grpId="1" animBg="1"/>
      <p:bldP spid="8" grpId="1"/>
      <p:bldP spid="13" grpId="1"/>
      <p:bldP spid="14" grpId="1" animBg="1"/>
      <p:bldP spid="9" grpId="1"/>
      <p:bldP spid="15" grpId="0"/>
      <p:bldP spid="1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4568825" y="1064895"/>
            <a:ext cx="7145655" cy="543623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圆角矩形 25"/>
          <p:cNvSpPr/>
          <p:nvPr>
            <p:custDataLst>
              <p:tags r:id="rId2"/>
            </p:custDataLst>
          </p:nvPr>
        </p:nvSpPr>
        <p:spPr>
          <a:xfrm>
            <a:off x="4568825" y="1065530"/>
            <a:ext cx="7146290" cy="543560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4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4568825" y="1065530"/>
            <a:ext cx="7348855" cy="45885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&lt;!DOCTYPE html&gt;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&lt;head&gt;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&lt;meta charset="UTF-8"&gt;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&lt;title&gt;&lt;/title&gt;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&lt;/head&gt;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&lt;body&gt;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&lt;form</a:t>
            </a:r>
            <a:r>
              <a:rPr lang="en-US" altLang="zh-CN" sz="12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2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action</a:t>
            </a:r>
            <a:r>
              <a:rPr lang="en-US" altLang="zh-CN" sz="12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="http://localhost:8080" </a:t>
            </a:r>
            <a:r>
              <a:rPr lang="en-US" altLang="zh-CN" sz="12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enctype</a:t>
            </a:r>
            <a:r>
              <a:rPr lang="en-US" altLang="zh-CN" sz="12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="multipart/form-data" </a:t>
            </a:r>
            <a:r>
              <a:rPr lang="en-US" altLang="zh-CN" sz="12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method</a:t>
            </a:r>
            <a:r>
              <a:rPr lang="en-US" altLang="zh-CN" sz="12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="post"&gt;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&lt;h1&gt;商品信息：&lt;/h1&gt;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&lt;input type="text" name="</a:t>
            </a:r>
            <a:r>
              <a:rPr lang="en-US" altLang="zh-CN" sz="1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 placeholder="name"&gt;&lt;br&gt;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&lt;input type="text" name="</a:t>
            </a:r>
            <a:r>
              <a:rPr lang="en-US" altLang="zh-CN" sz="1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price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 placeholder="price"&gt;&lt;br&gt;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&lt;input type="file" name="</a:t>
            </a:r>
            <a:r>
              <a:rPr lang="en-US" altLang="zh-CN" sz="1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upload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"&gt;&lt;br&gt;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&lt;input </a:t>
            </a:r>
            <a:r>
              <a:rPr lang="en-US" altLang="zh-CN" sz="1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type="submit"</a:t>
            </a: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value="提交"&gt;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&lt;/form&gt;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&lt;/body&gt;	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endParaRPr lang="en-US" altLang="zh-CN" sz="14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20015" y="1769110"/>
            <a:ext cx="304609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index.html</a:t>
            </a:r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图片上传表单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141595" y="3429635"/>
            <a:ext cx="6572885" cy="22244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69595" y="4754245"/>
            <a:ext cx="8163560" cy="443230"/>
            <a:chOff x="392" y="7903"/>
            <a:chExt cx="12856" cy="698"/>
          </a:xfrm>
        </p:grpSpPr>
        <p:sp>
          <p:nvSpPr>
            <p:cNvPr id="5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92" y="7903"/>
              <a:ext cx="5488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文件框</a:t>
              </a: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type="file"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61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965" y="8261"/>
              <a:ext cx="728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5965" y="790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61975" y="2735580"/>
            <a:ext cx="10922635" cy="990600"/>
            <a:chOff x="-1204" y="4657"/>
            <a:chExt cx="17201" cy="1560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1204" y="4657"/>
              <a:ext cx="5501" cy="1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action-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表单提交后的处理地址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enctype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-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表单数据编码传输方式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method-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表单提交方式为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post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841" y="6191"/>
              <a:ext cx="111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98" name="图片 5"/>
          <p:cNvPicPr>
            <a:picLocks noChangeAspect="1"/>
          </p:cNvPicPr>
          <p:nvPr/>
        </p:nvPicPr>
        <p:blipFill>
          <a:blip r:embed="rId17"/>
          <a:srcRect r="78285" b="40979"/>
          <a:stretch>
            <a:fillRect/>
          </a:stretch>
        </p:blipFill>
        <p:spPr>
          <a:xfrm>
            <a:off x="9350375" y="4620260"/>
            <a:ext cx="1951990" cy="20955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970982" y="43943"/>
            <a:ext cx="5855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使用multiparty实现图片上传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>
            <p:custDataLst>
              <p:tags r:id="rId1"/>
            </p:custDataLst>
          </p:nvPr>
        </p:nvSpPr>
        <p:spPr>
          <a:xfrm>
            <a:off x="4678680" y="1065530"/>
            <a:ext cx="6466840" cy="549592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25"/>
          <p:cNvSpPr/>
          <p:nvPr>
            <p:custDataLst>
              <p:tags r:id="rId4"/>
            </p:custDataLst>
          </p:nvPr>
        </p:nvSpPr>
        <p:spPr>
          <a:xfrm>
            <a:off x="4568825" y="1095375"/>
            <a:ext cx="6466840" cy="549656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矩形 46"/>
          <p:cNvSpPr/>
          <p:nvPr>
            <p:custDataLst>
              <p:tags r:id="rId5"/>
            </p:custDataLst>
          </p:nvPr>
        </p:nvSpPr>
        <p:spPr>
          <a:xfrm>
            <a:off x="4785995" y="1083310"/>
            <a:ext cx="6337300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 http = require('http');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const multiparty = require('multiparty');  </a:t>
            </a:r>
            <a:r>
              <a:rPr lang="en-US" altLang="zh-CN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 </a:t>
            </a:r>
            <a:r>
              <a:rPr lang="zh-CN" altLang="zh-CN" sz="1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先本地安装</a:t>
            </a:r>
            <a:endParaRPr lang="en-US" altLang="zh-CN" sz="1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let server = http.createServer((req, res) =&gt; {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//表单提交文件的存储位置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let form = new multiparty.Form({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uploadDir:'./upload/'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form.parse(req);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//获取文本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form.on('field',(name,price)=&gt;{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console.log('field:', name, price);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//获取文件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form.on('file',(name,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file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)=&gt;{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console.log('file:', name, </a:t>
            </a:r>
            <a:r>
              <a:rPr lang="en-US" altLang="zh-CN" sz="16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file</a:t>
            </a:r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//获取结束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form.on('close',function(){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console.log('传输完毕');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});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600" kern="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server.listen(8080);</a:t>
            </a:r>
            <a:endParaRPr lang="en-US" altLang="zh-CN" sz="1600" kern="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286385" y="1715135"/>
            <a:ext cx="27178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server.js</a:t>
            </a:r>
            <a:endParaRPr lang="en-US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 algn="ctr"/>
            <a:r>
              <a:rPr lang="zh-CN" altLang="zh-CN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处理表单上传图片</a:t>
            </a:r>
            <a:endParaRPr lang="zh-CN" altLang="zh-CN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697730" y="2083435"/>
            <a:ext cx="6052185" cy="4191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44600" y="4403725"/>
            <a:ext cx="6838950" cy="741045"/>
            <a:chOff x="591" y="8351"/>
            <a:chExt cx="10770" cy="1167"/>
          </a:xfrm>
        </p:grpSpPr>
        <p:sp>
          <p:nvSpPr>
            <p:cNvPr id="19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91" y="8411"/>
              <a:ext cx="4396" cy="10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上传文件的信息</a:t>
              </a:r>
              <a:r>
                <a:rPr lang="en-US" altLang="zh-CN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file</a:t>
              </a:r>
              <a:endParaRPr lang="en-US" altLang="zh-CN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2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5161" y="8986"/>
              <a:ext cx="6200" cy="2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5188" y="8351"/>
              <a:ext cx="0" cy="116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542925" y="1048385"/>
            <a:ext cx="2297430" cy="610235"/>
            <a:chOff x="855" y="183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66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83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678" y="1865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244600" y="2590165"/>
            <a:ext cx="9328150" cy="636905"/>
            <a:chOff x="352" y="3848"/>
            <a:chExt cx="14690" cy="1003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2" y="3848"/>
              <a:ext cx="4381" cy="100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buFont typeface="Arial" panose="020B0604020202020204" pitchFamily="34" charset="0"/>
                <a:buNone/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设置图片上传路径</a:t>
              </a:r>
              <a:endParaRPr 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2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935" y="429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>
              <a:off x="4935" y="3848"/>
              <a:ext cx="0" cy="100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5374" y="3868"/>
              <a:ext cx="9668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374" y="3907"/>
              <a:ext cx="0" cy="38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98" name="图片 5"/>
          <p:cNvPicPr>
            <a:picLocks noChangeAspect="1"/>
          </p:cNvPicPr>
          <p:nvPr/>
        </p:nvPicPr>
        <p:blipFill>
          <a:blip r:embed="rId17"/>
          <a:srcRect l="21715" t="8587"/>
          <a:stretch>
            <a:fillRect/>
          </a:stretch>
        </p:blipFill>
        <p:spPr>
          <a:xfrm>
            <a:off x="8516620" y="2627630"/>
            <a:ext cx="3574415" cy="2023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299" name="图片 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15985" y="4819650"/>
            <a:ext cx="3575050" cy="16078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3" name="矩形 12"/>
          <p:cNvSpPr/>
          <p:nvPr/>
        </p:nvSpPr>
        <p:spPr>
          <a:xfrm>
            <a:off x="8515985" y="4820285"/>
            <a:ext cx="3410585" cy="19685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970982" y="43943"/>
            <a:ext cx="585597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使用multiparty实现图片上传</a:t>
            </a:r>
            <a:endParaRPr sz="3200" b="1" spc="2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6" grpId="0"/>
      <p:bldP spid="57" grpId="0" bldLvl="0" animBg="1"/>
      <p:bldP spid="13" grpId="0" animBg="1"/>
      <p:bldP spid="1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5542915" y="2307590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5634355" y="2399030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6092190" y="1532890"/>
            <a:ext cx="4758055" cy="200596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multiparty模块简介</a:t>
            </a:r>
            <a:endParaRPr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第三方模块，必须先本地安装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解析表单提交的文本和文件内容</a:t>
            </a:r>
            <a:endParaRPr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对接收到的表单上传数据进行分割过滤</a:t>
            </a:r>
            <a:endParaRPr lang="zh-CN" altLang="en-US" sz="20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圆角矩形 133"/>
          <p:cNvSpPr/>
          <p:nvPr>
            <p:custDataLst>
              <p:tags r:id="rId7"/>
            </p:custDataLst>
          </p:nvPr>
        </p:nvSpPr>
        <p:spPr>
          <a:xfrm>
            <a:off x="5658485" y="4380865"/>
            <a:ext cx="323215" cy="323215"/>
          </a:xfrm>
          <a:prstGeom prst="roundRect">
            <a:avLst/>
          </a:prstGeom>
          <a:solidFill>
            <a:srgbClr val="4C944C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任意多边形 134"/>
          <p:cNvSpPr/>
          <p:nvPr>
            <p:custDataLst>
              <p:tags r:id="rId8"/>
            </p:custDataLst>
          </p:nvPr>
        </p:nvSpPr>
        <p:spPr>
          <a:xfrm>
            <a:off x="5749925" y="447484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矩形 80"/>
          <p:cNvSpPr/>
          <p:nvPr>
            <p:custDataLst>
              <p:tags r:id="rId9"/>
            </p:custDataLst>
          </p:nvPr>
        </p:nvSpPr>
        <p:spPr>
          <a:xfrm>
            <a:off x="6196965" y="4001770"/>
            <a:ext cx="475805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sz="2400" b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使用multiparty实现图片上传</a:t>
            </a:r>
            <a:endParaRPr sz="2400" b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index.html</a:t>
            </a:r>
            <a:r>
              <a:rPr lang="en-US" altLang="zh-CN" sz="1800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--</a:t>
            </a:r>
            <a:r>
              <a:rPr lang="zh-CN" altLang="en-US" sz="1800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图片上传表单页面</a:t>
            </a:r>
            <a:endParaRPr lang="zh-CN" altLang="en-US" sz="1800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server.js--</a:t>
            </a:r>
            <a:r>
              <a:rPr lang="zh-CN" altLang="en-US" kern="1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服务器处理表单上传图片</a:t>
            </a:r>
            <a:endParaRPr lang="zh-CN" altLang="en-US" kern="100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103" grpId="0" animBg="1"/>
      <p:bldP spid="104" grpId="0" animBg="1"/>
      <p:bldP spid="79" grpId="0"/>
      <p:bldP spid="103" grpId="1" animBg="1"/>
      <p:bldP spid="104" grpId="1" animBg="1"/>
      <p:bldP spid="79" grpId="1"/>
      <p:bldP spid="91" grpId="0" animBg="1"/>
      <p:bldP spid="100" grpId="0" animBg="1"/>
      <p:bldP spid="81" grpId="0"/>
      <p:bldP spid="91" grpId="1" animBg="1"/>
      <p:bldP spid="100" grpId="1" animBg="1"/>
      <p:bldP spid="8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SLIDE_BACKGROUND_TYPE" val="general"/>
</p:tagLst>
</file>

<file path=ppt/tags/tag5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40.48527559055117,&quot;top&quot;:148.1596062992126,&quot;width&quot;:769.7647244094488}"/>
</p:tagLst>
</file>

<file path=ppt/tags/tag59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0.xml><?xml version="1.0" encoding="utf-8"?>
<p:tagLst xmlns:p="http://schemas.openxmlformats.org/presentationml/2006/main">
  <p:tag name="KSO_WM_SLIDE_ID" val="custom20191730_2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2"/>
  <p:tag name="KSO_WM_SLIDE_INDEX" val="2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SLIDE_BACKGROUND_TYPE" val="general"/>
</p:tagLst>
</file>

<file path=ppt/tags/tag6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ABLE_BEAUTIFY" val="smartTable{cc5ffcbd-a719-435f-aace-1002077118c2}"/>
  <p:tag name="TABLE_ENDDRAG_ORIGIN_RECT" val="759*268"/>
  <p:tag name="TABLE_ENDDRAG_RECT" val="74*178*759*268"/>
</p:tagLst>
</file>

<file path=ppt/tags/tag61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16.xml><?xml version="1.0" encoding="utf-8"?>
<p:tagLst xmlns:p="http://schemas.openxmlformats.org/presentationml/2006/main">
  <p:tag name="KSO_WM_SLIDE_BACKGROUND_TYPE" val="general"/>
</p:tagLst>
</file>

<file path=ppt/tags/tag6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22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23.xml><?xml version="1.0" encoding="utf-8"?>
<p:tagLst xmlns:p="http://schemas.openxmlformats.org/presentationml/2006/main">
  <p:tag name="KSO_WM_SLIDE_BACKGROUND_TYPE" val="general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2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SLIDE_BACKGROUND_TYPE" val="general"/>
</p:tagLst>
</file>

<file path=ppt/tags/tag64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4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SLIDE_BACKGROUND_TYPE" val="general"/>
</p:tagLst>
</file>

<file path=ppt/tags/tag65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66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SLIDE_BACKGROUND_TYPE" val="general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68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2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2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2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1913</Words>
  <Application>WPS 演示</Application>
  <PresentationFormat>宽屏</PresentationFormat>
  <Paragraphs>157</Paragraphs>
  <Slides>11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Times New Roman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476</cp:revision>
  <dcterms:created xsi:type="dcterms:W3CDTF">2020-10-23T09:50:00Z</dcterms:created>
  <dcterms:modified xsi:type="dcterms:W3CDTF">2024-07-14T01:31:04Z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6BB733D6F7D3474CB9BDB967D3C10D76_13</vt:lpwstr>
  </property>
  <property fmtid="{D5CDD505-2E9C-101B-9397-08002B2CF9AE}" pid="3" name="KSOProductBuildVer">
    <vt:lpwstr>2052-12.1.0.17147</vt:lpwstr>
  </property>
</Properties>
</file>