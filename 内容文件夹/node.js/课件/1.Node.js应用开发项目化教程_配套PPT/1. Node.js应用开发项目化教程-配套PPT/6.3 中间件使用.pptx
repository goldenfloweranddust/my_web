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83" r:id="rId4"/>
    <p:sldId id="461" r:id="rId6"/>
    <p:sldId id="462" r:id="rId7"/>
    <p:sldId id="496" r:id="rId8"/>
    <p:sldId id="464" r:id="rId9"/>
    <p:sldId id="465" r:id="rId10"/>
    <p:sldId id="466" r:id="rId11"/>
    <p:sldId id="484" r:id="rId12"/>
    <p:sldId id="485" r:id="rId13"/>
    <p:sldId id="486" r:id="rId14"/>
    <p:sldId id="487" r:id="rId15"/>
    <p:sldId id="481" r:id="rId16"/>
    <p:sldId id="482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C944C"/>
    <a:srgbClr val="FFFFFF"/>
    <a:srgbClr val="AFABAB"/>
    <a:srgbClr val="333333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530" autoAdjust="0"/>
  </p:normalViewPr>
  <p:slideViewPr>
    <p:cSldViewPr snapToGrid="0" showGuides="1">
      <p:cViewPr varScale="1">
        <p:scale>
          <a:sx n="72" d="100"/>
          <a:sy n="72" d="100"/>
        </p:scale>
        <p:origin x="474" y="72"/>
      </p:cViewPr>
      <p:guideLst>
        <p:guide orient="horz" pos="231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753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595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03.xml"/><Relationship Id="rId7" Type="http://schemas.openxmlformats.org/officeDocument/2006/relationships/tags" Target="../tags/tag602.xml"/><Relationship Id="rId6" Type="http://schemas.openxmlformats.org/officeDocument/2006/relationships/tags" Target="../tags/tag601.xml"/><Relationship Id="rId5" Type="http://schemas.openxmlformats.org/officeDocument/2006/relationships/tags" Target="../tags/tag600.xml"/><Relationship Id="rId4" Type="http://schemas.openxmlformats.org/officeDocument/2006/relationships/tags" Target="../tags/tag599.xml"/><Relationship Id="rId3" Type="http://schemas.openxmlformats.org/officeDocument/2006/relationships/tags" Target="../tags/tag598.xml"/><Relationship Id="rId2" Type="http://schemas.openxmlformats.org/officeDocument/2006/relationships/tags" Target="../tags/tag597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59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1.xml"/><Relationship Id="rId8" Type="http://schemas.openxmlformats.org/officeDocument/2006/relationships/tags" Target="../tags/tag610.xml"/><Relationship Id="rId7" Type="http://schemas.openxmlformats.org/officeDocument/2006/relationships/tags" Target="../tags/tag609.xml"/><Relationship Id="rId6" Type="http://schemas.openxmlformats.org/officeDocument/2006/relationships/image" Target="../media/image5.png"/><Relationship Id="rId5" Type="http://schemas.openxmlformats.org/officeDocument/2006/relationships/tags" Target="../tags/tag608.xml"/><Relationship Id="rId4" Type="http://schemas.openxmlformats.org/officeDocument/2006/relationships/tags" Target="../tags/tag607.xml"/><Relationship Id="rId3" Type="http://schemas.openxmlformats.org/officeDocument/2006/relationships/tags" Target="../tags/tag606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622.xml"/><Relationship Id="rId21" Type="http://schemas.openxmlformats.org/officeDocument/2006/relationships/tags" Target="../tags/tag621.xml"/><Relationship Id="rId20" Type="http://schemas.openxmlformats.org/officeDocument/2006/relationships/image" Target="../media/image7.png"/><Relationship Id="rId2" Type="http://schemas.openxmlformats.org/officeDocument/2006/relationships/tags" Target="../tags/tag605.xml"/><Relationship Id="rId19" Type="http://schemas.openxmlformats.org/officeDocument/2006/relationships/tags" Target="../tags/tag620.xml"/><Relationship Id="rId18" Type="http://schemas.openxmlformats.org/officeDocument/2006/relationships/tags" Target="../tags/tag619.xml"/><Relationship Id="rId17" Type="http://schemas.openxmlformats.org/officeDocument/2006/relationships/tags" Target="../tags/tag618.xml"/><Relationship Id="rId16" Type="http://schemas.openxmlformats.org/officeDocument/2006/relationships/tags" Target="../tags/tag617.xml"/><Relationship Id="rId15" Type="http://schemas.openxmlformats.org/officeDocument/2006/relationships/tags" Target="../tags/tag616.xml"/><Relationship Id="rId14" Type="http://schemas.openxmlformats.org/officeDocument/2006/relationships/tags" Target="../tags/tag615.xml"/><Relationship Id="rId13" Type="http://schemas.openxmlformats.org/officeDocument/2006/relationships/image" Target="../media/image6.png"/><Relationship Id="rId12" Type="http://schemas.openxmlformats.org/officeDocument/2006/relationships/tags" Target="../tags/tag614.xml"/><Relationship Id="rId11" Type="http://schemas.openxmlformats.org/officeDocument/2006/relationships/tags" Target="../tags/tag613.xml"/><Relationship Id="rId10" Type="http://schemas.openxmlformats.org/officeDocument/2006/relationships/tags" Target="../tags/tag612.xml"/><Relationship Id="rId1" Type="http://schemas.openxmlformats.org/officeDocument/2006/relationships/tags" Target="../tags/tag60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630.xml"/><Relationship Id="rId7" Type="http://schemas.openxmlformats.org/officeDocument/2006/relationships/tags" Target="../tags/tag629.xml"/><Relationship Id="rId6" Type="http://schemas.openxmlformats.org/officeDocument/2006/relationships/tags" Target="../tags/tag628.xml"/><Relationship Id="rId5" Type="http://schemas.openxmlformats.org/officeDocument/2006/relationships/tags" Target="../tags/tag627.xml"/><Relationship Id="rId4" Type="http://schemas.openxmlformats.org/officeDocument/2006/relationships/tags" Target="../tags/tag626.xml"/><Relationship Id="rId3" Type="http://schemas.openxmlformats.org/officeDocument/2006/relationships/tags" Target="../tags/tag625.xml"/><Relationship Id="rId2" Type="http://schemas.openxmlformats.org/officeDocument/2006/relationships/tags" Target="../tags/tag624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633.xml"/><Relationship Id="rId11" Type="http://schemas.openxmlformats.org/officeDocument/2006/relationships/tags" Target="../tags/tag632.xml"/><Relationship Id="rId10" Type="http://schemas.openxmlformats.org/officeDocument/2006/relationships/tags" Target="../tags/tag631.xml"/><Relationship Id="rId1" Type="http://schemas.openxmlformats.org/officeDocument/2006/relationships/tags" Target="../tags/tag6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40.xml"/><Relationship Id="rId8" Type="http://schemas.openxmlformats.org/officeDocument/2006/relationships/tags" Target="../tags/tag639.xml"/><Relationship Id="rId7" Type="http://schemas.openxmlformats.org/officeDocument/2006/relationships/image" Target="../media/image10.png"/><Relationship Id="rId6" Type="http://schemas.openxmlformats.org/officeDocument/2006/relationships/tags" Target="../tags/tag638.xml"/><Relationship Id="rId5" Type="http://schemas.openxmlformats.org/officeDocument/2006/relationships/tags" Target="../tags/tag637.xml"/><Relationship Id="rId4" Type="http://schemas.openxmlformats.org/officeDocument/2006/relationships/tags" Target="../tags/tag636.xml"/><Relationship Id="rId3" Type="http://schemas.openxmlformats.org/officeDocument/2006/relationships/image" Target="../media/image9.png"/><Relationship Id="rId2" Type="http://schemas.openxmlformats.org/officeDocument/2006/relationships/tags" Target="../tags/tag635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41.xml"/><Relationship Id="rId1" Type="http://schemas.openxmlformats.org/officeDocument/2006/relationships/tags" Target="../tags/tag63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50.xml"/><Relationship Id="rId8" Type="http://schemas.openxmlformats.org/officeDocument/2006/relationships/tags" Target="../tags/tag649.xml"/><Relationship Id="rId7" Type="http://schemas.openxmlformats.org/officeDocument/2006/relationships/tags" Target="../tags/tag648.xml"/><Relationship Id="rId6" Type="http://schemas.openxmlformats.org/officeDocument/2006/relationships/tags" Target="../tags/tag647.xml"/><Relationship Id="rId5" Type="http://schemas.openxmlformats.org/officeDocument/2006/relationships/tags" Target="../tags/tag646.xml"/><Relationship Id="rId4" Type="http://schemas.openxmlformats.org/officeDocument/2006/relationships/tags" Target="../tags/tag645.xml"/><Relationship Id="rId3" Type="http://schemas.openxmlformats.org/officeDocument/2006/relationships/tags" Target="../tags/tag644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660.xml"/><Relationship Id="rId2" Type="http://schemas.openxmlformats.org/officeDocument/2006/relationships/tags" Target="../tags/tag643.xml"/><Relationship Id="rId19" Type="http://schemas.openxmlformats.org/officeDocument/2006/relationships/tags" Target="../tags/tag659.xml"/><Relationship Id="rId18" Type="http://schemas.openxmlformats.org/officeDocument/2006/relationships/image" Target="../media/image10.png"/><Relationship Id="rId17" Type="http://schemas.openxmlformats.org/officeDocument/2006/relationships/tags" Target="../tags/tag658.xml"/><Relationship Id="rId16" Type="http://schemas.openxmlformats.org/officeDocument/2006/relationships/tags" Target="../tags/tag657.xml"/><Relationship Id="rId15" Type="http://schemas.openxmlformats.org/officeDocument/2006/relationships/tags" Target="../tags/tag656.xml"/><Relationship Id="rId14" Type="http://schemas.openxmlformats.org/officeDocument/2006/relationships/tags" Target="../tags/tag655.xml"/><Relationship Id="rId13" Type="http://schemas.openxmlformats.org/officeDocument/2006/relationships/tags" Target="../tags/tag654.xml"/><Relationship Id="rId12" Type="http://schemas.openxmlformats.org/officeDocument/2006/relationships/tags" Target="../tags/tag653.xml"/><Relationship Id="rId11" Type="http://schemas.openxmlformats.org/officeDocument/2006/relationships/tags" Target="../tags/tag652.xml"/><Relationship Id="rId10" Type="http://schemas.openxmlformats.org/officeDocument/2006/relationships/tags" Target="../tags/tag651.xml"/><Relationship Id="rId1" Type="http://schemas.openxmlformats.org/officeDocument/2006/relationships/tags" Target="../tags/tag64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67.xml"/><Relationship Id="rId8" Type="http://schemas.openxmlformats.org/officeDocument/2006/relationships/tags" Target="../tags/tag666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tags" Target="../tags/tag665.xml"/><Relationship Id="rId4" Type="http://schemas.openxmlformats.org/officeDocument/2006/relationships/tags" Target="../tags/tag664.xml"/><Relationship Id="rId3" Type="http://schemas.openxmlformats.org/officeDocument/2006/relationships/tags" Target="../tags/tag663.xml"/><Relationship Id="rId2" Type="http://schemas.openxmlformats.org/officeDocument/2006/relationships/tags" Target="../tags/tag662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70.xml"/><Relationship Id="rId14" Type="http://schemas.openxmlformats.org/officeDocument/2006/relationships/image" Target="../media/image15.jpeg"/><Relationship Id="rId13" Type="http://schemas.openxmlformats.org/officeDocument/2006/relationships/tags" Target="../tags/tag669.xml"/><Relationship Id="rId12" Type="http://schemas.openxmlformats.org/officeDocument/2006/relationships/image" Target="../media/image14.png"/><Relationship Id="rId11" Type="http://schemas.openxmlformats.org/officeDocument/2006/relationships/tags" Target="../tags/tag668.xml"/><Relationship Id="rId10" Type="http://schemas.openxmlformats.org/officeDocument/2006/relationships/image" Target="../media/image13.png"/><Relationship Id="rId1" Type="http://schemas.openxmlformats.org/officeDocument/2006/relationships/tags" Target="../tags/tag66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77.xml"/><Relationship Id="rId6" Type="http://schemas.openxmlformats.org/officeDocument/2006/relationships/tags" Target="../tags/tag676.xml"/><Relationship Id="rId5" Type="http://schemas.openxmlformats.org/officeDocument/2006/relationships/tags" Target="../tags/tag675.xml"/><Relationship Id="rId4" Type="http://schemas.openxmlformats.org/officeDocument/2006/relationships/tags" Target="../tags/tag674.xml"/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" Type="http://schemas.openxmlformats.org/officeDocument/2006/relationships/tags" Target="../tags/tag67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83.xml"/><Relationship Id="rId8" Type="http://schemas.openxmlformats.org/officeDocument/2006/relationships/image" Target="../media/image17.png"/><Relationship Id="rId7" Type="http://schemas.openxmlformats.org/officeDocument/2006/relationships/tags" Target="../tags/tag682.xml"/><Relationship Id="rId6" Type="http://schemas.openxmlformats.org/officeDocument/2006/relationships/tags" Target="../tags/tag681.xml"/><Relationship Id="rId5" Type="http://schemas.openxmlformats.org/officeDocument/2006/relationships/tags" Target="../tags/tag680.xml"/><Relationship Id="rId4" Type="http://schemas.openxmlformats.org/officeDocument/2006/relationships/image" Target="../media/image12.svg"/><Relationship Id="rId3" Type="http://schemas.openxmlformats.org/officeDocument/2006/relationships/image" Target="../media/image16.png"/><Relationship Id="rId2" Type="http://schemas.openxmlformats.org/officeDocument/2006/relationships/tags" Target="../tags/tag679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7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90.xml"/><Relationship Id="rId8" Type="http://schemas.openxmlformats.org/officeDocument/2006/relationships/tags" Target="../tags/tag689.xml"/><Relationship Id="rId7" Type="http://schemas.openxmlformats.org/officeDocument/2006/relationships/tags" Target="../tags/tag688.xml"/><Relationship Id="rId6" Type="http://schemas.openxmlformats.org/officeDocument/2006/relationships/tags" Target="../tags/tag687.xml"/><Relationship Id="rId5" Type="http://schemas.openxmlformats.org/officeDocument/2006/relationships/image" Target="../media/image12.svg"/><Relationship Id="rId4" Type="http://schemas.openxmlformats.org/officeDocument/2006/relationships/image" Target="../media/image16.png"/><Relationship Id="rId3" Type="http://schemas.openxmlformats.org/officeDocument/2006/relationships/tags" Target="../tags/tag686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1.xml"/><Relationship Id="rId24" Type="http://schemas.openxmlformats.org/officeDocument/2006/relationships/tags" Target="../tags/tag703.xml"/><Relationship Id="rId23" Type="http://schemas.openxmlformats.org/officeDocument/2006/relationships/image" Target="../media/image19.png"/><Relationship Id="rId22" Type="http://schemas.openxmlformats.org/officeDocument/2006/relationships/tags" Target="../tags/tag702.xml"/><Relationship Id="rId21" Type="http://schemas.openxmlformats.org/officeDocument/2006/relationships/tags" Target="../tags/tag701.xml"/><Relationship Id="rId20" Type="http://schemas.openxmlformats.org/officeDocument/2006/relationships/tags" Target="../tags/tag700.xml"/><Relationship Id="rId2" Type="http://schemas.openxmlformats.org/officeDocument/2006/relationships/tags" Target="../tags/tag685.xml"/><Relationship Id="rId19" Type="http://schemas.openxmlformats.org/officeDocument/2006/relationships/image" Target="../media/image18.png"/><Relationship Id="rId18" Type="http://schemas.openxmlformats.org/officeDocument/2006/relationships/tags" Target="../tags/tag699.xml"/><Relationship Id="rId17" Type="http://schemas.openxmlformats.org/officeDocument/2006/relationships/tags" Target="../tags/tag698.xml"/><Relationship Id="rId16" Type="http://schemas.openxmlformats.org/officeDocument/2006/relationships/tags" Target="../tags/tag697.xml"/><Relationship Id="rId15" Type="http://schemas.openxmlformats.org/officeDocument/2006/relationships/tags" Target="../tags/tag696.xml"/><Relationship Id="rId14" Type="http://schemas.openxmlformats.org/officeDocument/2006/relationships/tags" Target="../tags/tag695.xml"/><Relationship Id="rId13" Type="http://schemas.openxmlformats.org/officeDocument/2006/relationships/tags" Target="../tags/tag694.xml"/><Relationship Id="rId12" Type="http://schemas.openxmlformats.org/officeDocument/2006/relationships/tags" Target="../tags/tag693.xml"/><Relationship Id="rId11" Type="http://schemas.openxmlformats.org/officeDocument/2006/relationships/tags" Target="../tags/tag692.xml"/><Relationship Id="rId10" Type="http://schemas.openxmlformats.org/officeDocument/2006/relationships/tags" Target="../tags/tag691.xml"/><Relationship Id="rId1" Type="http://schemas.openxmlformats.org/officeDocument/2006/relationships/tags" Target="../tags/tag68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12.xml"/><Relationship Id="rId8" Type="http://schemas.openxmlformats.org/officeDocument/2006/relationships/tags" Target="../tags/tag711.xml"/><Relationship Id="rId7" Type="http://schemas.openxmlformats.org/officeDocument/2006/relationships/tags" Target="../tags/tag710.xml"/><Relationship Id="rId6" Type="http://schemas.openxmlformats.org/officeDocument/2006/relationships/tags" Target="../tags/tag709.xml"/><Relationship Id="rId5" Type="http://schemas.openxmlformats.org/officeDocument/2006/relationships/tags" Target="../tags/tag708.xml"/><Relationship Id="rId49" Type="http://schemas.openxmlformats.org/officeDocument/2006/relationships/notesSlide" Target="../notesSlides/notesSlide12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750.xml"/><Relationship Id="rId46" Type="http://schemas.openxmlformats.org/officeDocument/2006/relationships/tags" Target="../tags/tag749.xml"/><Relationship Id="rId45" Type="http://schemas.openxmlformats.org/officeDocument/2006/relationships/tags" Target="../tags/tag748.xml"/><Relationship Id="rId44" Type="http://schemas.openxmlformats.org/officeDocument/2006/relationships/tags" Target="../tags/tag747.xml"/><Relationship Id="rId43" Type="http://schemas.openxmlformats.org/officeDocument/2006/relationships/tags" Target="../tags/tag746.xml"/><Relationship Id="rId42" Type="http://schemas.openxmlformats.org/officeDocument/2006/relationships/tags" Target="../tags/tag745.xml"/><Relationship Id="rId41" Type="http://schemas.openxmlformats.org/officeDocument/2006/relationships/tags" Target="../tags/tag744.xml"/><Relationship Id="rId40" Type="http://schemas.openxmlformats.org/officeDocument/2006/relationships/tags" Target="../tags/tag743.xml"/><Relationship Id="rId4" Type="http://schemas.openxmlformats.org/officeDocument/2006/relationships/tags" Target="../tags/tag707.xml"/><Relationship Id="rId39" Type="http://schemas.openxmlformats.org/officeDocument/2006/relationships/tags" Target="../tags/tag742.xml"/><Relationship Id="rId38" Type="http://schemas.openxmlformats.org/officeDocument/2006/relationships/tags" Target="../tags/tag741.xml"/><Relationship Id="rId37" Type="http://schemas.openxmlformats.org/officeDocument/2006/relationships/tags" Target="../tags/tag740.xml"/><Relationship Id="rId36" Type="http://schemas.openxmlformats.org/officeDocument/2006/relationships/tags" Target="../tags/tag739.xml"/><Relationship Id="rId35" Type="http://schemas.openxmlformats.org/officeDocument/2006/relationships/tags" Target="../tags/tag738.xml"/><Relationship Id="rId34" Type="http://schemas.openxmlformats.org/officeDocument/2006/relationships/tags" Target="../tags/tag737.xml"/><Relationship Id="rId33" Type="http://schemas.openxmlformats.org/officeDocument/2006/relationships/tags" Target="../tags/tag736.xml"/><Relationship Id="rId32" Type="http://schemas.openxmlformats.org/officeDocument/2006/relationships/tags" Target="../tags/tag735.xml"/><Relationship Id="rId31" Type="http://schemas.openxmlformats.org/officeDocument/2006/relationships/tags" Target="../tags/tag734.xml"/><Relationship Id="rId30" Type="http://schemas.openxmlformats.org/officeDocument/2006/relationships/tags" Target="../tags/tag733.xml"/><Relationship Id="rId3" Type="http://schemas.openxmlformats.org/officeDocument/2006/relationships/tags" Target="../tags/tag706.xml"/><Relationship Id="rId29" Type="http://schemas.openxmlformats.org/officeDocument/2006/relationships/tags" Target="../tags/tag732.xml"/><Relationship Id="rId28" Type="http://schemas.openxmlformats.org/officeDocument/2006/relationships/tags" Target="../tags/tag731.xml"/><Relationship Id="rId27" Type="http://schemas.openxmlformats.org/officeDocument/2006/relationships/tags" Target="../tags/tag730.xml"/><Relationship Id="rId26" Type="http://schemas.openxmlformats.org/officeDocument/2006/relationships/tags" Target="../tags/tag729.xml"/><Relationship Id="rId25" Type="http://schemas.openxmlformats.org/officeDocument/2006/relationships/tags" Target="../tags/tag728.xml"/><Relationship Id="rId24" Type="http://schemas.openxmlformats.org/officeDocument/2006/relationships/tags" Target="../tags/tag727.xml"/><Relationship Id="rId23" Type="http://schemas.openxmlformats.org/officeDocument/2006/relationships/tags" Target="../tags/tag726.xml"/><Relationship Id="rId22" Type="http://schemas.openxmlformats.org/officeDocument/2006/relationships/tags" Target="../tags/tag725.xml"/><Relationship Id="rId21" Type="http://schemas.openxmlformats.org/officeDocument/2006/relationships/tags" Target="../tags/tag724.xml"/><Relationship Id="rId20" Type="http://schemas.openxmlformats.org/officeDocument/2006/relationships/tags" Target="../tags/tag723.xml"/><Relationship Id="rId2" Type="http://schemas.openxmlformats.org/officeDocument/2006/relationships/tags" Target="../tags/tag705.xml"/><Relationship Id="rId19" Type="http://schemas.openxmlformats.org/officeDocument/2006/relationships/tags" Target="../tags/tag722.xml"/><Relationship Id="rId18" Type="http://schemas.openxmlformats.org/officeDocument/2006/relationships/tags" Target="../tags/tag721.xml"/><Relationship Id="rId17" Type="http://schemas.openxmlformats.org/officeDocument/2006/relationships/tags" Target="../tags/tag720.xml"/><Relationship Id="rId16" Type="http://schemas.openxmlformats.org/officeDocument/2006/relationships/tags" Target="../tags/tag719.xml"/><Relationship Id="rId15" Type="http://schemas.openxmlformats.org/officeDocument/2006/relationships/tags" Target="../tags/tag718.xml"/><Relationship Id="rId14" Type="http://schemas.openxmlformats.org/officeDocument/2006/relationships/tags" Target="../tags/tag717.xml"/><Relationship Id="rId13" Type="http://schemas.openxmlformats.org/officeDocument/2006/relationships/tags" Target="../tags/tag716.xml"/><Relationship Id="rId12" Type="http://schemas.openxmlformats.org/officeDocument/2006/relationships/tags" Target="../tags/tag715.xml"/><Relationship Id="rId11" Type="http://schemas.openxmlformats.org/officeDocument/2006/relationships/tags" Target="../tags/tag714.xml"/><Relationship Id="rId10" Type="http://schemas.openxmlformats.org/officeDocument/2006/relationships/tags" Target="../tags/tag713.xml"/><Relationship Id="rId1" Type="http://schemas.openxmlformats.org/officeDocument/2006/relationships/tags" Target="../tags/tag70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52.xml"/><Relationship Id="rId1" Type="http://schemas.openxmlformats.org/officeDocument/2006/relationships/tags" Target="../tags/tag7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495425" y="2195830"/>
            <a:ext cx="908304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中间件</a:t>
            </a:r>
            <a:r>
              <a:rPr lang="zh-CN" altLang="en-US" sz="71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使用</a:t>
            </a:r>
            <a:endParaRPr lang="zh-CN" altLang="en-US" sz="71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59455" y="5589270"/>
            <a:ext cx="5606415" cy="922020"/>
            <a:chOff x="5655" y="9137"/>
            <a:chExt cx="8829" cy="1452"/>
          </a:xfrm>
        </p:grpSpPr>
        <p:sp>
          <p:nvSpPr>
            <p:cNvPr id="12" name="任意多边形 228"/>
            <p:cNvSpPr/>
            <p:nvPr>
              <p:custDataLst>
                <p:tags r:id="rId3"/>
              </p:custDataLst>
            </p:nvPr>
          </p:nvSpPr>
          <p:spPr>
            <a:xfrm>
              <a:off x="5655" y="9137"/>
              <a:ext cx="8828" cy="1016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761" y="9137"/>
              <a:ext cx="8723" cy="145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逻辑的分离，思维的独立！</a:t>
              </a:r>
              <a:endParaRPr lang="zh-CN" altLang="en-US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b="1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在软件工程领域，中间件是一个已被广泛应用的概念。</a:t>
              </a:r>
              <a:endParaRPr lang="zh-CN" altLang="en-US" b="1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0" name="图片 39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540" y="2221122"/>
            <a:ext cx="2415755" cy="24157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6"/>
          <a:srcRect b="8975"/>
          <a:stretch>
            <a:fillRect/>
          </a:stretch>
        </p:blipFill>
        <p:spPr>
          <a:xfrm>
            <a:off x="8583664" y="1654626"/>
            <a:ext cx="2995277" cy="272644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7"/>
          <a:srcRect b="8975"/>
          <a:stretch>
            <a:fillRect/>
          </a:stretch>
        </p:blipFill>
        <p:spPr>
          <a:xfrm>
            <a:off x="3683635" y="934085"/>
            <a:ext cx="4545330" cy="413766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62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62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62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62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4" tmFilter="0, 0; 0.125,0.2665; 0.25,0.4; 0.375,0.465; 0.5,0.5;  0.625,0.535; 0.75,0.6; 0.875,0.7335; 1,1">
                                          <p:stCondLst>
                                            <p:cond delay="497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62">
                                          <p:stCondLst>
                                            <p:cond delay="25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62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62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62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400" b="1" strike="noStrike" baseline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871980" y="3082925"/>
            <a:ext cx="3020695" cy="698500"/>
            <a:chOff x="2948" y="4855"/>
            <a:chExt cx="4757" cy="1100"/>
          </a:xfrm>
        </p:grpSpPr>
        <p:sp>
          <p:nvSpPr>
            <p:cNvPr id="20" name="矩形 19"/>
            <p:cNvSpPr/>
            <p:nvPr>
              <p:custDataLst>
                <p:tags r:id="rId2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3"/>
              </p:custDataLst>
            </p:nvPr>
          </p:nvSpPr>
          <p:spPr>
            <a:xfrm>
              <a:off x="422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什么是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中间件义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161655" y="3082925"/>
            <a:ext cx="3485515" cy="698500"/>
            <a:chOff x="12853" y="4855"/>
            <a:chExt cx="5489" cy="1100"/>
          </a:xfrm>
        </p:grpSpPr>
        <p:sp>
          <p:nvSpPr>
            <p:cNvPr id="23" name="矩形 22"/>
            <p:cNvSpPr/>
            <p:nvPr>
              <p:custDataLst>
                <p:tags r:id="rId4"/>
              </p:custDataLst>
            </p:nvPr>
          </p:nvSpPr>
          <p:spPr>
            <a:xfrm>
              <a:off x="12853" y="4855"/>
              <a:ext cx="1101" cy="1101"/>
            </a:xfrm>
            <a:prstGeom prst="rect">
              <a:avLst/>
            </a:prstGeom>
            <a:solidFill>
              <a:srgbClr val="15C2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14126" y="5030"/>
              <a:ext cx="4217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内置</a:t>
              </a:r>
              <a:r>
                <a:rPr lang="zh-CN" altLang="en-US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中间件</a:t>
              </a:r>
              <a:endParaRPr lang="zh-CN" altLang="en-US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078730" y="3082925"/>
            <a:ext cx="3020695" cy="698500"/>
            <a:chOff x="7998" y="4855"/>
            <a:chExt cx="4757" cy="1100"/>
          </a:xfrm>
        </p:grpSpPr>
        <p:sp>
          <p:nvSpPr>
            <p:cNvPr id="29" name="矩形 28"/>
            <p:cNvSpPr/>
            <p:nvPr>
              <p:custDataLst>
                <p:tags r:id="rId6"/>
              </p:custDataLst>
            </p:nvPr>
          </p:nvSpPr>
          <p:spPr>
            <a:xfrm>
              <a:off x="7998" y="48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7"/>
              </p:custDataLst>
            </p:nvPr>
          </p:nvSpPr>
          <p:spPr>
            <a:xfrm>
              <a:off x="9271" y="50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自定义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中间件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814392" y="67333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什么是中间件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181735" y="958850"/>
            <a:ext cx="10428605" cy="1762125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just" fontAlgn="auto"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服务器的生命周期一般是：接收请求-处理请求-发出响应。为了逻辑单元的独立和维护的便捷，可以将处理</a:t>
            </a:r>
            <a:r>
              <a:rPr 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拆分成一个个子单元处理，此时子单元的请求处理就是中间件。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服务器接收到请求的时候，会依次执行每个中间件，直到调用终止，发出响应给客户端。</a:t>
            </a:r>
            <a:endParaRPr 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xpress的应用本质上就是在调用各种中间件。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矩形: 圆角 34"/>
          <p:cNvSpPr/>
          <p:nvPr>
            <p:custDataLst>
              <p:tags r:id="rId5"/>
            </p:custDataLst>
          </p:nvPr>
        </p:nvSpPr>
        <p:spPr>
          <a:xfrm>
            <a:off x="814705" y="1176020"/>
            <a:ext cx="220345" cy="1421765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42950" y="2872740"/>
            <a:ext cx="10274300" cy="3440430"/>
            <a:chOff x="1170" y="4269"/>
            <a:chExt cx="16180" cy="5418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rcRect l="15998" t="21488" r="17739" b="29894"/>
            <a:stretch>
              <a:fillRect/>
            </a:stretch>
          </p:blipFill>
          <p:spPr>
            <a:xfrm>
              <a:off x="15069" y="7963"/>
              <a:ext cx="2281" cy="1674"/>
            </a:xfrm>
            <a:prstGeom prst="rect">
              <a:avLst/>
            </a:prstGeom>
          </p:spPr>
        </p:pic>
        <p:sp>
          <p:nvSpPr>
            <p:cNvPr id="5" name="矩形: 圆角 37"/>
            <p:cNvSpPr/>
            <p:nvPr>
              <p:custDataLst>
                <p:tags r:id="rId7"/>
              </p:custDataLst>
            </p:nvPr>
          </p:nvSpPr>
          <p:spPr>
            <a:xfrm>
              <a:off x="6716" y="4922"/>
              <a:ext cx="9221" cy="4765"/>
            </a:xfrm>
            <a:prstGeom prst="roundRect">
              <a:avLst/>
            </a:prstGeom>
            <a:noFill/>
            <a:ln w="28575"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矩形: 圆角 39"/>
            <p:cNvSpPr/>
            <p:nvPr>
              <p:custDataLst>
                <p:tags r:id="rId8"/>
              </p:custDataLst>
            </p:nvPr>
          </p:nvSpPr>
          <p:spPr>
            <a:xfrm>
              <a:off x="4246" y="5507"/>
              <a:ext cx="1784" cy="622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请求</a:t>
              </a:r>
              <a:endParaRPr lang="zh-CN" altLang="en-US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43" name="直接箭头连接符 42"/>
            <p:cNvCxnSpPr>
              <a:endCxn id="45" idx="1"/>
            </p:cNvCxnSpPr>
            <p:nvPr>
              <p:custDataLst>
                <p:tags r:id="rId9"/>
              </p:custDataLst>
            </p:nvPr>
          </p:nvCxnSpPr>
          <p:spPr>
            <a:xfrm flipV="1">
              <a:off x="3857" y="5910"/>
              <a:ext cx="3584" cy="861"/>
            </a:xfrm>
            <a:prstGeom prst="straightConnector1">
              <a:avLst/>
            </a:prstGeom>
            <a:ln w="28575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>
              <p:custDataLst>
                <p:tags r:id="rId10"/>
              </p:custDataLst>
            </p:nvPr>
          </p:nvCxnSpPr>
          <p:spPr>
            <a:xfrm flipH="1" flipV="1">
              <a:off x="3765" y="7180"/>
              <a:ext cx="3506" cy="1168"/>
            </a:xfrm>
            <a:prstGeom prst="straightConnector1">
              <a:avLst/>
            </a:prstGeom>
            <a:ln w="28575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endCxn id="21" idx="1"/>
            </p:cNvCxnSpPr>
            <p:nvPr/>
          </p:nvCxnSpPr>
          <p:spPr>
            <a:xfrm flipV="1">
              <a:off x="9628" y="5983"/>
              <a:ext cx="2885" cy="1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flipH="1">
              <a:off x="10075" y="8657"/>
              <a:ext cx="25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3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075" y="4269"/>
              <a:ext cx="3536" cy="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Express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服务器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矩形: 圆角 39"/>
            <p:cNvSpPr/>
            <p:nvPr>
              <p:custDataLst>
                <p:tags r:id="rId12"/>
              </p:custDataLst>
            </p:nvPr>
          </p:nvSpPr>
          <p:spPr>
            <a:xfrm>
              <a:off x="4246" y="7979"/>
              <a:ext cx="1784" cy="678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响应</a:t>
              </a:r>
              <a:endParaRPr lang="zh-CN" altLang="en-US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2513" y="5121"/>
              <a:ext cx="2378" cy="1723"/>
              <a:chOff x="6955" y="5048"/>
              <a:chExt cx="2378" cy="1723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>
              <a:blip r:embed="rId13"/>
              <a:srcRect l="8172" t="20328" r="6683" b="24439"/>
              <a:stretch>
                <a:fillRect/>
              </a:stretch>
            </p:blipFill>
            <p:spPr>
              <a:xfrm>
                <a:off x="6955" y="5048"/>
                <a:ext cx="2378" cy="1723"/>
              </a:xfrm>
              <a:prstGeom prst="rect">
                <a:avLst/>
              </a:prstGeom>
            </p:spPr>
          </p:pic>
          <p:sp>
            <p:nvSpPr>
              <p:cNvPr id="22" name="TextBox 31"/>
              <p:cNvSpPr txBox="1"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7294" y="5717"/>
                <a:ext cx="1700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r" eaLnBrk="1" hangingPunct="1"/>
                <a:r>
                  <a:rPr lang="zh-CN" altLang="en-US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中间件</a:t>
                </a:r>
                <a:r>
                  <a:rPr lang="en-US" altLang="zh-CN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2</a:t>
                </a:r>
                <a:endParaRPr lang="en-US" altLang="zh-CN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2374" y="7792"/>
              <a:ext cx="2378" cy="1723"/>
              <a:chOff x="6955" y="5048"/>
              <a:chExt cx="2378" cy="1723"/>
            </a:xfrm>
          </p:grpSpPr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13"/>
              <a:srcRect l="8172" t="20328" r="6683" b="24439"/>
              <a:stretch>
                <a:fillRect/>
              </a:stretch>
            </p:blipFill>
            <p:spPr>
              <a:xfrm>
                <a:off x="6955" y="5048"/>
                <a:ext cx="2378" cy="1723"/>
              </a:xfrm>
              <a:prstGeom prst="rect">
                <a:avLst/>
              </a:prstGeom>
            </p:spPr>
          </p:pic>
          <p:sp>
            <p:nvSpPr>
              <p:cNvPr id="26" name="TextBox 31"/>
              <p:cNvSpPr txBox="1"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7294" y="5717"/>
                <a:ext cx="1700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r" eaLnBrk="1" hangingPunct="1"/>
                <a:r>
                  <a:rPr lang="zh-CN" altLang="en-US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中间件</a:t>
                </a:r>
                <a:r>
                  <a:rPr lang="en-US" altLang="zh-CN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3</a:t>
                </a:r>
                <a:endParaRPr lang="en-US" altLang="zh-CN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1" name="矩形 40"/>
            <p:cNvSpPr/>
            <p:nvPr/>
          </p:nvSpPr>
          <p:spPr>
            <a:xfrm>
              <a:off x="7584" y="7817"/>
              <a:ext cx="2356" cy="142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处理完毕</a:t>
              </a:r>
              <a:endParaRPr lang="zh-CN" altLang="en-US">
                <a:solidFill>
                  <a:schemeClr val="tx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tx1"/>
                  </a:solidFill>
                </a:rPr>
                <a:t>响应该请求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7441" y="5048"/>
              <a:ext cx="2378" cy="1723"/>
              <a:chOff x="6955" y="5048"/>
              <a:chExt cx="2378" cy="1723"/>
            </a:xfrm>
          </p:grpSpPr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13"/>
              <a:srcRect l="8172" t="20328" r="6683" b="24439"/>
              <a:stretch>
                <a:fillRect/>
              </a:stretch>
            </p:blipFill>
            <p:spPr>
              <a:xfrm>
                <a:off x="6955" y="5048"/>
                <a:ext cx="2378" cy="1723"/>
              </a:xfrm>
              <a:prstGeom prst="rect">
                <a:avLst/>
              </a:prstGeom>
            </p:spPr>
          </p:pic>
          <p:sp>
            <p:nvSpPr>
              <p:cNvPr id="49" name="TextBox 31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7294" y="5717"/>
                <a:ext cx="1700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r" eaLnBrk="1" hangingPunct="1"/>
                <a:r>
                  <a:rPr lang="zh-CN" altLang="en-US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中间件</a:t>
                </a:r>
                <a:r>
                  <a:rPr lang="en-US" altLang="zh-CN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1</a:t>
                </a:r>
                <a:endParaRPr lang="en-US" altLang="zh-CN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</p:grpSp>
        <p:cxnSp>
          <p:nvCxnSpPr>
            <p:cNvPr id="50" name="直接箭头连接符 49"/>
            <p:cNvCxnSpPr/>
            <p:nvPr/>
          </p:nvCxnSpPr>
          <p:spPr>
            <a:xfrm>
              <a:off x="13738" y="6742"/>
              <a:ext cx="12" cy="13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3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952" y="5311"/>
              <a:ext cx="1700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en-US" altLang="zh-CN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next()</a:t>
              </a:r>
              <a:endPara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1" name="TextBox 3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 rot="5400000">
              <a:off x="13279" y="6471"/>
              <a:ext cx="1700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en-US" altLang="zh-CN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next()</a:t>
              </a:r>
              <a:endPara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52" name="TextBox 3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1631" y="7963"/>
              <a:ext cx="1700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en-US" altLang="zh-CN" sz="1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next()</a:t>
              </a:r>
              <a:endPara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170" y="5845"/>
              <a:ext cx="2738" cy="2166"/>
              <a:chOff x="1692" y="5899"/>
              <a:chExt cx="2738" cy="2166"/>
            </a:xfrm>
          </p:grpSpPr>
          <p:pic>
            <p:nvPicPr>
              <p:cNvPr id="30" name="图片 29"/>
              <p:cNvPicPr>
                <a:picLocks noChangeAspect="1"/>
              </p:cNvPicPr>
              <p:nvPr/>
            </p:nvPicPr>
            <p:blipFill rotWithShape="1">
              <a:blip r:embed="rId20"/>
              <a:srcRect l="1506" t="9134" r="87579" b="60782"/>
              <a:stretch>
                <a:fillRect/>
              </a:stretch>
            </p:blipFill>
            <p:spPr>
              <a:xfrm>
                <a:off x="2382" y="5899"/>
                <a:ext cx="1700" cy="1582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55" name="TextBox 31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692" y="7509"/>
                <a:ext cx="2739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/>
                <a:r>
                  <a:rPr lang="zh-CN" altLang="en-US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客户</a:t>
                </a:r>
                <a:r>
                  <a:rPr lang="zh-CN" altLang="en-US" sz="20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端</a:t>
                </a:r>
                <a:endPara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40385" y="1879600"/>
            <a:ext cx="4401185" cy="207645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41020" y="2008505"/>
          <a:ext cx="4399915" cy="18522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99915"/>
              </a:tblGrid>
              <a:tr h="18522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b="0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function middleware(</a:t>
                      </a:r>
                      <a:r>
                        <a:rPr lang="en-US" sz="1800" b="0" kern="0" dirty="0" err="1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req,res</a:t>
                      </a:r>
                      <a:r>
                        <a:rPr lang="en-US" sz="1800" b="0" kern="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en-US" sz="1800" b="0" kern="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next</a:t>
                      </a:r>
                      <a:r>
                        <a:rPr lang="en-US" sz="1800" b="0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){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209550" algn="l">
                        <a:lnSpc>
                          <a:spcPct val="150000"/>
                        </a:lnSpc>
                      </a:pPr>
                      <a:r>
                        <a:rPr lang="en-US" sz="1800" b="0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</a:t>
                      </a:r>
                      <a:r>
                        <a:rPr lang="zh-CN" sz="1800" b="0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处理业务的逻辑代码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209550" algn="l">
                        <a:lnSpc>
                          <a:spcPct val="150000"/>
                        </a:lnSpc>
                      </a:pPr>
                      <a:r>
                        <a:rPr lang="en-US" sz="1800" b="0" kern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next(); </a:t>
                      </a:r>
                      <a:r>
                        <a:rPr lang="en-US" sz="1800" b="0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// </a:t>
                      </a:r>
                      <a:r>
                        <a:rPr lang="zh-CN" sz="1800" b="0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调用下一个函数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b="0" kern="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sz="18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>
                    <a:noFill/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84775" y="2008505"/>
            <a:ext cx="2816225" cy="202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修改请求和响应对象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结束请求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响应周期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调用下一个中间件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圆角矩形 25"/>
          <p:cNvSpPr/>
          <p:nvPr>
            <p:custDataLst>
              <p:tags r:id="rId6"/>
            </p:custDataLst>
          </p:nvPr>
        </p:nvSpPr>
        <p:spPr>
          <a:xfrm>
            <a:off x="541020" y="1946910"/>
            <a:ext cx="4399915" cy="191452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39750" y="4415790"/>
            <a:ext cx="11211560" cy="1981200"/>
            <a:chOff x="764" y="7109"/>
            <a:chExt cx="17656" cy="3120"/>
          </a:xfrm>
        </p:grpSpPr>
        <p:sp>
          <p:nvSpPr>
            <p:cNvPr id="31" name="矩形 30"/>
            <p:cNvSpPr/>
            <p:nvPr>
              <p:custDataLst>
                <p:tags r:id="rId7"/>
              </p:custDataLst>
            </p:nvPr>
          </p:nvSpPr>
          <p:spPr>
            <a:xfrm>
              <a:off x="764" y="7109"/>
              <a:ext cx="17656" cy="312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1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764" y="7311"/>
              <a:ext cx="16188" cy="26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noAutofit/>
            </a:bodyPr>
            <a:lstStyle>
              <a:lvl1pPr indent="2667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next()</a:t>
              </a:r>
              <a:r>
                <a: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将控制权交给下一个中间件，调用下一个函数</a:t>
              </a:r>
              <a:endPara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如果没有</a:t>
              </a: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next()</a:t>
              </a:r>
              <a:r>
                <a: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的话，就不再调用下一个函数</a:t>
              </a:r>
              <a:endPara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342900" marR="0" lvl="0" indent="-34290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如果当前的中间件没有调用</a:t>
              </a: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next()</a:t>
              </a:r>
              <a:r>
                <a: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，也没有结束请求</a:t>
              </a: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</a:t>
              </a:r>
              <a:r>
                <a: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dk1">
                      <a:lumMod val="85000"/>
                      <a:lumOff val="1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响的周期，请求将会被挂起。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101" name="图片 100"/>
          <p:cNvPicPr/>
          <p:nvPr/>
        </p:nvPicPr>
        <p:blipFill>
          <a:blip r:embed="rId9"/>
          <a:stretch>
            <a:fillRect/>
          </a:stretch>
        </p:blipFill>
        <p:spPr>
          <a:xfrm>
            <a:off x="8083550" y="596265"/>
            <a:ext cx="3667760" cy="341376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980440" y="1163955"/>
            <a:ext cx="953071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中间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件的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形式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701675" y="135763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14392" y="67333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什么是中间件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  <p:bldP spid="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45" y="2867025"/>
            <a:ext cx="1845310" cy="184531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814392" y="67333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indent="0" algn="ctr" defTabSz="9144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自定义中间件</a:t>
            </a:r>
            <a:endParaRPr kumimoji="0" lang="zh-CN" altLang="en-US" sz="3200" b="0" i="0" kern="1200" cap="none" spc="0" normalizeH="0" baseline="0" noProof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自定义一个获取时间戳的中间件。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矩形 1"/>
          <p:cNvSpPr/>
          <p:nvPr>
            <p:custDataLst>
              <p:tags r:id="rId5"/>
            </p:custDataLst>
          </p:nvPr>
        </p:nvSpPr>
        <p:spPr bwMode="auto">
          <a:xfrm>
            <a:off x="619125" y="1268095"/>
            <a:ext cx="2297430" cy="415925"/>
          </a:xfrm>
          <a:custGeom>
            <a:avLst/>
            <a:gdLst>
              <a:gd name="connsiteX0" fmla="*/ 0 w 6840760"/>
              <a:gd name="connsiteY0" fmla="*/ 0 h 888468"/>
              <a:gd name="connsiteX1" fmla="*/ 6840760 w 6840760"/>
              <a:gd name="connsiteY1" fmla="*/ 0 h 888468"/>
              <a:gd name="connsiteX2" fmla="*/ 6840760 w 6840760"/>
              <a:gd name="connsiteY2" fmla="*/ 888468 h 888468"/>
              <a:gd name="connsiteX3" fmla="*/ 0 w 6840760"/>
              <a:gd name="connsiteY3" fmla="*/ 888468 h 888468"/>
              <a:gd name="connsiteX4" fmla="*/ 0 w 6840760"/>
              <a:gd name="connsiteY4" fmla="*/ 0 h 888468"/>
              <a:gd name="connsiteX0-1" fmla="*/ 0 w 6840760"/>
              <a:gd name="connsiteY0-2" fmla="*/ 0 h 888468"/>
              <a:gd name="connsiteX1-3" fmla="*/ 6465622 w 6840760"/>
              <a:gd name="connsiteY1-4" fmla="*/ 35169 h 888468"/>
              <a:gd name="connsiteX2-5" fmla="*/ 6840760 w 6840760"/>
              <a:gd name="connsiteY2-6" fmla="*/ 888468 h 888468"/>
              <a:gd name="connsiteX3-7" fmla="*/ 0 w 6840760"/>
              <a:gd name="connsiteY3-8" fmla="*/ 888468 h 888468"/>
              <a:gd name="connsiteX4-9" fmla="*/ 0 w 6840760"/>
              <a:gd name="connsiteY4-10" fmla="*/ 0 h 888468"/>
              <a:gd name="connsiteX0-11" fmla="*/ 351693 w 6840760"/>
              <a:gd name="connsiteY0-12" fmla="*/ 0 h 888468"/>
              <a:gd name="connsiteX1-13" fmla="*/ 6465622 w 6840760"/>
              <a:gd name="connsiteY1-14" fmla="*/ 35169 h 888468"/>
              <a:gd name="connsiteX2-15" fmla="*/ 6840760 w 6840760"/>
              <a:gd name="connsiteY2-16" fmla="*/ 888468 h 888468"/>
              <a:gd name="connsiteX3-17" fmla="*/ 0 w 6840760"/>
              <a:gd name="connsiteY3-18" fmla="*/ 888468 h 888468"/>
              <a:gd name="connsiteX4-19" fmla="*/ 351693 w 6840760"/>
              <a:gd name="connsiteY4-20" fmla="*/ 0 h 8884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40760" h="888468">
                <a:moveTo>
                  <a:pt x="351693" y="0"/>
                </a:moveTo>
                <a:lnTo>
                  <a:pt x="6465622" y="35169"/>
                </a:lnTo>
                <a:lnTo>
                  <a:pt x="6840760" y="888468"/>
                </a:lnTo>
                <a:lnTo>
                  <a:pt x="0" y="888468"/>
                </a:lnTo>
                <a:lnTo>
                  <a:pt x="35169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TextBox 27"/>
          <p:cNvSpPr txBox="1">
            <a:spLocks noChangeArrowheads="1"/>
          </p:cNvSpPr>
          <p:nvPr/>
        </p:nvSpPr>
        <p:spPr bwMode="auto">
          <a:xfrm>
            <a:off x="1359535" y="1275715"/>
            <a:ext cx="69088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示例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iconfont-1187-868615"/>
          <p:cNvSpPr/>
          <p:nvPr>
            <p:custDataLst>
              <p:tags r:id="rId6"/>
            </p:custDataLst>
          </p:nvPr>
        </p:nvSpPr>
        <p:spPr>
          <a:xfrm>
            <a:off x="549275" y="1069340"/>
            <a:ext cx="608330" cy="609600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chemeClr val="lt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366135" y="3079750"/>
            <a:ext cx="3378200" cy="2021840"/>
            <a:chOff x="5301" y="4850"/>
            <a:chExt cx="5320" cy="3184"/>
          </a:xfrm>
        </p:grpSpPr>
        <p:pic>
          <p:nvPicPr>
            <p:cNvPr id="174" name="图片 1"/>
            <p:cNvPicPr>
              <a:picLocks noChangeAspect="1"/>
            </p:cNvPicPr>
            <p:nvPr/>
          </p:nvPicPr>
          <p:blipFill>
            <a:blip r:embed="rId7"/>
            <a:srcRect t="3590" r="44337"/>
            <a:stretch>
              <a:fillRect/>
            </a:stretch>
          </p:blipFill>
          <p:spPr>
            <a:xfrm>
              <a:off x="5301" y="4850"/>
              <a:ext cx="5321" cy="203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grpSp>
          <p:nvGrpSpPr>
            <p:cNvPr id="4" name="组合 3"/>
            <p:cNvGrpSpPr/>
            <p:nvPr/>
          </p:nvGrpSpPr>
          <p:grpSpPr>
            <a:xfrm>
              <a:off x="5301" y="7212"/>
              <a:ext cx="5188" cy="823"/>
              <a:chOff x="5761" y="9137"/>
              <a:chExt cx="8723" cy="823"/>
            </a:xfrm>
          </p:grpSpPr>
          <p:sp>
            <p:nvSpPr>
              <p:cNvPr id="6" name="任意多边形 228"/>
              <p:cNvSpPr/>
              <p:nvPr>
                <p:custDataLst>
                  <p:tags r:id="rId8"/>
                </p:custDataLst>
              </p:nvPr>
            </p:nvSpPr>
            <p:spPr>
              <a:xfrm>
                <a:off x="8009" y="9137"/>
                <a:ext cx="4333" cy="823"/>
              </a:xfrm>
              <a:prstGeom prst="roundRect">
                <a:avLst/>
              </a:prstGeom>
              <a:solidFill>
                <a:schemeClr val="dk1">
                  <a:lumMod val="75000"/>
                  <a:lumOff val="25000"/>
                </a:schemeClr>
              </a:solidFill>
              <a:ln w="15200" cap="flat">
                <a:noFill/>
                <a:bevel/>
              </a:ln>
              <a:effectLst/>
            </p:spPr>
            <p:txBody>
              <a:bodyPr wrap="square" lIns="36000" tIns="0" rIns="36000" bIns="0"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5761" y="9137"/>
                <a:ext cx="8723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定义中间件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显示当前系统时间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7" name="矩形 66"/>
            <p:cNvSpPr/>
            <p:nvPr/>
          </p:nvSpPr>
          <p:spPr>
            <a:xfrm>
              <a:off x="5301" y="6558"/>
              <a:ext cx="3572" cy="326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068820" y="2978785"/>
            <a:ext cx="4149725" cy="2150745"/>
            <a:chOff x="11132" y="4691"/>
            <a:chExt cx="6535" cy="3387"/>
          </a:xfrm>
        </p:grpSpPr>
        <p:pic>
          <p:nvPicPr>
            <p:cNvPr id="3" name="图片 1"/>
            <p:cNvPicPr>
              <a:picLocks noChangeAspect="1"/>
            </p:cNvPicPr>
            <p:nvPr/>
          </p:nvPicPr>
          <p:blipFill>
            <a:blip r:embed="rId7"/>
            <a:srcRect l="56187" t="10892"/>
            <a:stretch>
              <a:fillRect/>
            </a:stretch>
          </p:blipFill>
          <p:spPr>
            <a:xfrm>
              <a:off x="11132" y="4691"/>
              <a:ext cx="6535" cy="241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grpSp>
          <p:nvGrpSpPr>
            <p:cNvPr id="10" name="组合 9"/>
            <p:cNvGrpSpPr/>
            <p:nvPr/>
          </p:nvGrpSpPr>
          <p:grpSpPr>
            <a:xfrm>
              <a:off x="13475" y="7255"/>
              <a:ext cx="2577" cy="823"/>
              <a:chOff x="8843" y="9137"/>
              <a:chExt cx="4333" cy="823"/>
            </a:xfrm>
          </p:grpSpPr>
          <p:sp>
            <p:nvSpPr>
              <p:cNvPr id="11" name="任意多边形 228"/>
              <p:cNvSpPr/>
              <p:nvPr>
                <p:custDataLst>
                  <p:tags r:id="rId9"/>
                </p:custDataLst>
              </p:nvPr>
            </p:nvSpPr>
            <p:spPr>
              <a:xfrm>
                <a:off x="8843" y="9137"/>
                <a:ext cx="4333" cy="823"/>
              </a:xfrm>
              <a:prstGeom prst="roundRect">
                <a:avLst/>
              </a:prstGeom>
              <a:solidFill>
                <a:schemeClr val="dk1">
                  <a:lumMod val="75000"/>
                  <a:lumOff val="25000"/>
                </a:schemeClr>
              </a:solidFill>
              <a:ln w="15200" cap="flat">
                <a:noFill/>
                <a:bevel/>
              </a:ln>
              <a:effectLst/>
            </p:spPr>
            <p:txBody>
              <a:bodyPr wrap="square" lIns="36000" tIns="0" rIns="36000" bIns="0"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8874" y="9303"/>
                <a:ext cx="409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中间件被调用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>
            <p:custDataLst>
              <p:tags r:id="rId1"/>
            </p:custDataLst>
          </p:nvPr>
        </p:nvSpPr>
        <p:spPr>
          <a:xfrm>
            <a:off x="3300730" y="1095375"/>
            <a:ext cx="7932420" cy="535368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82295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814392" y="67333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自定义中间件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" name="圆角矩形 25"/>
          <p:cNvSpPr/>
          <p:nvPr>
            <p:custDataLst>
              <p:tags r:id="rId5"/>
            </p:custDataLst>
          </p:nvPr>
        </p:nvSpPr>
        <p:spPr>
          <a:xfrm>
            <a:off x="3301365" y="1100455"/>
            <a:ext cx="7929245" cy="534797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0" name="矩形 49"/>
          <p:cNvSpPr/>
          <p:nvPr>
            <p:custDataLst>
              <p:tags r:id="rId6"/>
            </p:custDataLst>
          </p:nvPr>
        </p:nvSpPr>
        <p:spPr>
          <a:xfrm>
            <a:off x="3625215" y="1095375"/>
            <a:ext cx="6090920" cy="53536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function </a:t>
            </a:r>
            <a:r>
              <a:rPr lang="en-US" altLang="zh-CN" sz="20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getTimestamp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(req, res, next) {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let time = new Date();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console.log(time);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next();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app.use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b="1" kern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getTimestamp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// 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使用中间件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kern="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</a:t>
            </a:r>
            <a:r>
              <a:rPr lang="en-US" altLang="zh-CN" sz="2000" b="1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get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en-US" altLang="zh-CN" sz="2000" b="1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/time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',function(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req,res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){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en-US" altLang="zh-CN" sz="2000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res.send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('</a:t>
            </a:r>
            <a:r>
              <a:rPr lang="zh-CN" altLang="en-US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中间件被调用！</a:t>
            </a:r>
            <a:r>
              <a:rPr lang="en-US" altLang="zh-CN" sz="20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')</a:t>
            </a:r>
            <a:endParaRPr lang="zh-CN" altLang="zh-CN" sz="3200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8935" y="3540760"/>
            <a:ext cx="6478270" cy="443230"/>
            <a:chOff x="479" y="4042"/>
            <a:chExt cx="10202" cy="698"/>
          </a:xfrm>
        </p:grpSpPr>
        <p:sp>
          <p:nvSpPr>
            <p:cNvPr id="52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79" y="4042"/>
              <a:ext cx="426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使用中间件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54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845" y="4547"/>
              <a:ext cx="5836" cy="4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4845" y="4059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9" name="文本框 58"/>
          <p:cNvSpPr txBox="1"/>
          <p:nvPr>
            <p:custDataLst>
              <p:tags r:id="rId10"/>
            </p:custDataLst>
          </p:nvPr>
        </p:nvSpPr>
        <p:spPr>
          <a:xfrm>
            <a:off x="542647" y="1681253"/>
            <a:ext cx="239738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app.js-</a:t>
            </a:r>
            <a:r>
              <a:rPr lang="zh-CN" alt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自定义中间件</a:t>
            </a:r>
            <a:endParaRPr lang="zh-CN" altLang="en-US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586480" y="1256665"/>
            <a:ext cx="5965825" cy="21723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9570" y="4130675"/>
            <a:ext cx="5863590" cy="1085215"/>
            <a:chOff x="582" y="6775"/>
            <a:chExt cx="9234" cy="1709"/>
          </a:xfrm>
        </p:grpSpPr>
        <p:grpSp>
          <p:nvGrpSpPr>
            <p:cNvPr id="3" name="组合 2"/>
            <p:cNvGrpSpPr/>
            <p:nvPr/>
          </p:nvGrpSpPr>
          <p:grpSpPr>
            <a:xfrm>
              <a:off x="582" y="6775"/>
              <a:ext cx="9234" cy="1709"/>
              <a:chOff x="582" y="6775"/>
              <a:chExt cx="9234" cy="1709"/>
            </a:xfrm>
          </p:grpSpPr>
          <p:sp>
            <p:nvSpPr>
              <p:cNvPr id="33" name="矩形 4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582" y="6775"/>
                <a:ext cx="4215" cy="1709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访问/time的get请求时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服务器会先调用</a:t>
                </a:r>
                <a:r>
                  <a:rPr lang="zh-CN" altLang="en-US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中间件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然后再执行该段</a:t>
                </a:r>
                <a:r>
                  <a:rPr lang="zh-CN" altLang="en-US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代码</a:t>
                </a:r>
                <a:endPara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8" name="直接连接符 5"/>
              <p:cNvCxnSpPr>
                <a:cxnSpLocks noChangeShapeType="1"/>
              </p:cNvCxnSpPr>
              <p:nvPr>
                <p:custDataLst>
                  <p:tags r:id="rId12"/>
                </p:custDataLst>
              </p:nvPr>
            </p:nvCxnSpPr>
            <p:spPr bwMode="auto">
              <a:xfrm flipH="1">
                <a:off x="5341" y="7796"/>
                <a:ext cx="4475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直接连接符 9"/>
              <p:cNvCxnSpPr>
                <a:cxnSpLocks noChangeShapeType="1"/>
              </p:cNvCxnSpPr>
              <p:nvPr>
                <p:custDataLst>
                  <p:tags r:id="rId13"/>
                </p:custDataLst>
              </p:nvPr>
            </p:nvCxnSpPr>
            <p:spPr bwMode="auto">
              <a:xfrm flipH="1" flipV="1">
                <a:off x="5341" y="6958"/>
                <a:ext cx="0" cy="838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直接连接符 76"/>
              <p:cNvCxnSpPr>
                <a:cxnSpLocks noChangeShapeType="1"/>
              </p:cNvCxnSpPr>
              <p:nvPr>
                <p:custDataLst>
                  <p:tags r:id="rId14"/>
                </p:custDataLst>
              </p:nvPr>
            </p:nvCxnSpPr>
            <p:spPr bwMode="auto">
              <a:xfrm flipH="1">
                <a:off x="4949" y="6958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7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949" y="6809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7" name="矩形 66"/>
          <p:cNvSpPr/>
          <p:nvPr/>
        </p:nvSpPr>
        <p:spPr>
          <a:xfrm>
            <a:off x="3586480" y="4394835"/>
            <a:ext cx="5965825" cy="14281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995680"/>
            <a:ext cx="2297430" cy="610235"/>
            <a:chOff x="855" y="1838"/>
            <a:chExt cx="3618" cy="961"/>
          </a:xfrm>
        </p:grpSpPr>
        <p:sp>
          <p:nvSpPr>
            <p:cNvPr id="2" name="矩形 1"/>
            <p:cNvSpPr/>
            <p:nvPr>
              <p:custDataLst>
                <p:tags r:id="rId16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7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174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89445" y="5411470"/>
            <a:ext cx="4165600" cy="9505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矩形 10"/>
          <p:cNvSpPr/>
          <p:nvPr/>
        </p:nvSpPr>
        <p:spPr>
          <a:xfrm>
            <a:off x="7021830" y="6191885"/>
            <a:ext cx="1604010" cy="1701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9812020" y="4961890"/>
            <a:ext cx="1334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6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6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start</a:t>
            </a:r>
            <a:endParaRPr lang="en-US" altLang="zh-CN" sz="1600" b="1" i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67" grpId="0" bldLvl="0" animBg="1"/>
      <p:bldP spid="11" grpId="0" bldLvl="0" animBg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/>
          <p:cNvSpPr/>
          <p:nvPr>
            <p:custDataLst>
              <p:tags r:id="rId1"/>
            </p:custDataLst>
          </p:nvPr>
        </p:nvSpPr>
        <p:spPr>
          <a:xfrm>
            <a:off x="209006" y="1385901"/>
            <a:ext cx="1345474" cy="8780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>
            <p:custDataLst>
              <p:tags r:id="rId2"/>
            </p:custDataLst>
          </p:nvPr>
        </p:nvSpPr>
        <p:spPr>
          <a:xfrm>
            <a:off x="1554479" y="1389102"/>
            <a:ext cx="231289" cy="873868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7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017592" y="67333"/>
            <a:ext cx="2214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内置中间件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650" y="1461262"/>
            <a:ext cx="569913" cy="569913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1970405" y="1524635"/>
            <a:ext cx="940498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框架的内置中间件</a:t>
            </a:r>
            <a:r>
              <a:rPr lang="en-US" altLang="zh-CN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express.static()</a:t>
            </a:r>
            <a:r>
              <a:rPr lang="zh-CN" altLang="en-US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指定要加载的静态资源。 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7983" y="2941893"/>
            <a:ext cx="2774356" cy="2774356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46" y="2941893"/>
            <a:ext cx="2774356" cy="2774356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3"/>
            </p:custDataLst>
          </p:nvPr>
        </p:nvPicPr>
        <p:blipFill rotWithShape="1">
          <a:blip r:embed="rId14"/>
          <a:srcRect t="33254"/>
          <a:stretch>
            <a:fillRect/>
          </a:stretch>
        </p:blipFill>
        <p:spPr>
          <a:xfrm>
            <a:off x="768110" y="2941893"/>
            <a:ext cx="2774356" cy="2774356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1017592" y="67333"/>
            <a:ext cx="2214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内置中间件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4"/>
            </p:custDataLst>
          </p:nvPr>
        </p:nvGraphicFramePr>
        <p:xfrm>
          <a:off x="1017905" y="2131695"/>
          <a:ext cx="9254490" cy="4368800"/>
        </p:xfrm>
        <a:graphic>
          <a:graphicData uri="http://schemas.openxmlformats.org/drawingml/2006/table">
            <a:tbl>
              <a:tblPr firstRow="1" bandRow="1"/>
              <a:tblGrid>
                <a:gridCol w="1452880"/>
                <a:gridCol w="7801610"/>
              </a:tblGrid>
              <a:tr h="3575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属性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ctr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作用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dotfiles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是否对外输出文件名以点“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.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”开头的文件，有效值包括“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allow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”“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deny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”和 “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ignore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etag</a:t>
                      </a:r>
                      <a:endParaRPr lang="en-US" altLang="zh-CN" sz="1600" b="0" kern="100" dirty="0" err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启用或禁用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etag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extensions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用于设置后备文件扩展名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index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发送目录索引文件，设置为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可禁用建立目录索引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53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lastModified</a:t>
                      </a:r>
                      <a:endParaRPr lang="en-US" altLang="zh-CN" sz="1600" b="0" kern="100" dirty="0" err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lastModified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的头设置为操作系统上该文件的上次修改日期，有效值包括“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”、“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337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maxAge</a:t>
                      </a:r>
                      <a:endParaRPr lang="en-US" altLang="zh-CN" sz="1600" b="0" kern="100" dirty="0" err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设置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Cache-Control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头的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max-age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属性（以毫秒或者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ms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格式中的字符串为单位）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redirect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当路径名是目录时重定向到结尾的“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setHeaders</a:t>
                      </a:r>
                      <a:endParaRPr lang="en-US" altLang="zh-CN" sz="1600" b="0" kern="100" dirty="0" err="1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用于设置随文件一起提供的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HTTP</a:t>
                      </a:r>
                      <a:r>
                        <a:rPr lang="zh-CN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头的函数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776605" y="995045"/>
            <a:ext cx="5161915" cy="6229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lang="en-US" altLang="zh-CN" sz="24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express.static</a:t>
            </a:r>
            <a:r>
              <a:rPr lang="en-US" altLang="zh-CN" sz="24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(root, [options]); </a:t>
            </a:r>
            <a:endParaRPr lang="zh-CN" altLang="zh-CN" sz="24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algn="ctr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endParaRPr lang="zh-CN" altLang="zh-CN" sz="2400" b="1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1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701675" y="117602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18018" y="1508735"/>
            <a:ext cx="816923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SzPct val="80000"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root</a:t>
            </a:r>
            <a:r>
              <a:rPr lang="zh-CN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为加载静态资源的路径；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options</a:t>
            </a:r>
            <a:r>
              <a:rPr lang="zh-CN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为可选参数，具有以下属性：</a:t>
            </a:r>
            <a:endParaRPr lang="zh-CN" altLang="zh-CN" sz="3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017592" y="67333"/>
            <a:ext cx="2214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内置中间件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18533" y="1203802"/>
            <a:ext cx="7089387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使用内置中间件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express.static()</a:t>
            </a:r>
            <a:r>
              <a:rPr lang="zh-CN" altLang="en-US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浏览器输入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文件路径及文件名，便可直接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访问服务器上的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CSS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文件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4" name="矩形 1"/>
            <p:cNvSpPr/>
            <p:nvPr>
              <p:custDataLst>
                <p:tags r:id="rId6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iconfont-1187-868615"/>
            <p:cNvSpPr/>
            <p:nvPr>
              <p:custDataLst>
                <p:tags r:id="rId7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17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2785" y="2329180"/>
            <a:ext cx="6308725" cy="382841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1"/>
            </p:custDataLst>
          </p:nvPr>
        </p:nvSpPr>
        <p:spPr>
          <a:xfrm>
            <a:off x="3318510" y="897255"/>
            <a:ext cx="8089900" cy="585152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080" y="3051707"/>
            <a:ext cx="569913" cy="569913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017592" y="67333"/>
            <a:ext cx="2214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内置中间件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3655060" y="5874385"/>
            <a:ext cx="5897880" cy="37401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>
              <a:defRPr b="1" kern="0">
                <a:solidFill>
                  <a:srgbClr val="FF0000"/>
                </a:solidFill>
                <a:effectLst/>
                <a:latin typeface="Arial" panose="020B0604020202020204" pitchFamily="34" charset="0"/>
                <a:ea typeface="Courier New" panose="02070309020205020404" pitchFamily="49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app.use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express.static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('public', options));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5"/>
          <p:cNvSpPr/>
          <p:nvPr>
            <p:custDataLst>
              <p:tags r:id="rId8"/>
            </p:custDataLst>
          </p:nvPr>
        </p:nvSpPr>
        <p:spPr>
          <a:xfrm>
            <a:off x="3301365" y="895985"/>
            <a:ext cx="8093710" cy="585343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3625215" y="896620"/>
            <a:ext cx="6090920" cy="50717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var options = {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dotfiles: 'ignore',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etag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false,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extensions: ['htm', 'html'],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index: false,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maxAge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'1d',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redirect: false,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setHeaders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 function (res, path, stat) {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res.set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('x-timestamp', </a:t>
            </a:r>
            <a:r>
              <a:rPr lang="en-US" altLang="zh-CN" kern="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Date.now</a:t>
            </a: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());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}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lang="en-US" altLang="zh-CN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69570" y="2616835"/>
            <a:ext cx="3140075" cy="443230"/>
            <a:chOff x="582" y="4121"/>
            <a:chExt cx="4945" cy="698"/>
          </a:xfrm>
        </p:grpSpPr>
        <p:sp>
          <p:nvSpPr>
            <p:cNvPr id="30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82" y="4121"/>
              <a:ext cx="414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内置中间件的选项参数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32" name="直接连接符 76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 flipV="1">
              <a:off x="4845" y="4456"/>
              <a:ext cx="682" cy="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连接符 90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45" y="412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" name="文本框 37"/>
          <p:cNvSpPr txBox="1"/>
          <p:nvPr>
            <p:custDataLst>
              <p:tags r:id="rId13"/>
            </p:custDataLst>
          </p:nvPr>
        </p:nvSpPr>
        <p:spPr>
          <a:xfrm>
            <a:off x="543174" y="1696882"/>
            <a:ext cx="239264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app.js-</a:t>
            </a:r>
            <a:r>
              <a:rPr lang="zh-CN" altLang="en-US" sz="1800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项目入口文件</a:t>
            </a:r>
            <a:endParaRPr lang="zh-CN" altLang="en-US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586480" y="1455420"/>
            <a:ext cx="5965825" cy="41128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9580" y="5481955"/>
            <a:ext cx="8326755" cy="766445"/>
            <a:chOff x="708" y="8769"/>
            <a:chExt cx="13113" cy="1207"/>
          </a:xfrm>
        </p:grpSpPr>
        <p:sp>
          <p:nvSpPr>
            <p:cNvPr id="41" name="矩形 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08" y="8769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内置中间件的引用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5" name="直接连接符 5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5467" y="9976"/>
              <a:ext cx="835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直接连接符 9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 flipV="1">
              <a:off x="5467" y="9138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直接连接符 76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5075" y="913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90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5075" y="8802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54" name="图片 53"/>
          <p:cNvPicPr/>
          <p:nvPr/>
        </p:nvPicPr>
        <p:blipFill>
          <a:blip r:embed="rId19"/>
          <a:stretch>
            <a:fillRect/>
          </a:stretch>
        </p:blipFill>
        <p:spPr>
          <a:xfrm>
            <a:off x="8329930" y="4160520"/>
            <a:ext cx="3771265" cy="171386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5" name="矩形 54"/>
          <p:cNvSpPr/>
          <p:nvPr>
            <p:custDataLst>
              <p:tags r:id="rId20"/>
            </p:custDataLst>
          </p:nvPr>
        </p:nvSpPr>
        <p:spPr>
          <a:xfrm>
            <a:off x="9165859" y="4444087"/>
            <a:ext cx="2581275" cy="2971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2" name="矩形 1"/>
            <p:cNvSpPr/>
            <p:nvPr>
              <p:custDataLst>
                <p:tags r:id="rId21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22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0215" y="3507105"/>
            <a:ext cx="2357120" cy="10191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2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8" grpId="0"/>
      <p:bldP spid="39" grpId="0" bldLvl="0" animBg="1"/>
      <p:bldP spid="5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755" y="1696085"/>
            <a:ext cx="4074795" cy="4277995"/>
          </a:xfrm>
          <a:prstGeom prst="arc">
            <a:avLst>
              <a:gd name="adj1" fmla="val 18087254"/>
              <a:gd name="adj2" fmla="val 3183749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184775" y="146812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276215" y="155956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910580" y="144780"/>
            <a:ext cx="5175250" cy="2722245"/>
          </a:xfrm>
          <a:prstGeom prst="rect">
            <a:avLst/>
          </a:prstGeom>
        </p:spPr>
        <p:txBody>
          <a:bodyPr wrap="square" lIns="68559" tIns="34280" rIns="68559" bIns="3428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中间件的定义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将处理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请求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拆分成一个个子单元处理，子单元的请求处理就是中间件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1600" kern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function middleware(</a:t>
            </a:r>
            <a:r>
              <a:rPr lang="en-US" sz="1600" kern="0" dirty="0" err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req,res,</a:t>
            </a:r>
            <a:r>
              <a:rPr lang="en-US" sz="1600" kern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</a:t>
            </a:r>
            <a:r>
              <a:rPr lang="en-US" sz="1600" kern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){</a:t>
            </a:r>
            <a:endParaRPr lang="zh-CN" sz="1600" b="0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9550" algn="l">
              <a:lnSpc>
                <a:spcPct val="150000"/>
              </a:lnSpc>
            </a:pPr>
            <a:r>
              <a:rPr lang="en-US" sz="1600" kern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 </a:t>
            </a:r>
            <a:r>
              <a:rPr lang="zh-CN" sz="1600" kern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处理业务的逻辑代码</a:t>
            </a:r>
            <a:endParaRPr lang="zh-CN" sz="1600" b="0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209550" algn="l">
              <a:lnSpc>
                <a:spcPct val="150000"/>
              </a:lnSpc>
            </a:pPr>
            <a:r>
              <a:rPr lang="en-US" sz="1600" kern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next(); </a:t>
            </a:r>
            <a:r>
              <a:rPr lang="en-US" sz="1600" kern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 </a:t>
            </a:r>
            <a:r>
              <a:rPr lang="zh-CN" sz="1600" kern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调用下一个函数</a:t>
            </a:r>
            <a:endParaRPr lang="zh-CN" sz="1600" b="0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600" kern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lang="zh-CN" sz="1600" b="0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b="0" kern="1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圆角矩形 133"/>
          <p:cNvSpPr/>
          <p:nvPr>
            <p:custDataLst>
              <p:tags r:id="rId7"/>
            </p:custDataLst>
          </p:nvPr>
        </p:nvSpPr>
        <p:spPr>
          <a:xfrm>
            <a:off x="5198745" y="5293995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8"/>
            </p:custDataLst>
          </p:nvPr>
        </p:nvSpPr>
        <p:spPr>
          <a:xfrm>
            <a:off x="5290185" y="540702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9"/>
            </p:custDataLst>
          </p:nvPr>
        </p:nvSpPr>
        <p:spPr>
          <a:xfrm>
            <a:off x="5910580" y="4929505"/>
            <a:ext cx="517588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内置中间件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express.static 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是Express 框架的内置中间件，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通过该中间件可以指定要加载的静态资源。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5507990" y="337693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5599430" y="346837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0" name="矩形 89"/>
          <p:cNvSpPr/>
          <p:nvPr>
            <p:custDataLst>
              <p:tags r:id="rId46"/>
            </p:custDataLst>
          </p:nvPr>
        </p:nvSpPr>
        <p:spPr>
          <a:xfrm>
            <a:off x="5910580" y="2893060"/>
            <a:ext cx="5723890" cy="269875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自定义中间件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在项目入口文件中自定义中间件函数，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</a:t>
            </a:r>
            <a:r>
              <a:rPr lang="zh-CN" altLang="en-US" sz="1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app.use()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语句将中间件绑定到 Express中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使用。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执行路由代码时会被先执行。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595.xml><?xml version="1.0" encoding="utf-8"?>
<p:tagLst xmlns:p="http://schemas.openxmlformats.org/presentationml/2006/main">
  <p:tag name="KSO_WM_SLIDE_BACKGROUND_TYPE" val="general"/>
</p:tagLst>
</file>

<file path=ppt/tags/tag59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603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08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1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2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61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SLIDE_BACKGROUND_TYPE" val="general"/>
</p:tagLst>
</file>

<file path=ppt/tags/tag62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TABLE_ENDDRAG_ORIGIN_RECT" val="346*145"/>
  <p:tag name="TABLE_ENDDRAG_RECT" val="42*177*346*145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SLIDE_BACKGROUND_TYPE" val="general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3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3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4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41.xml><?xml version="1.0" encoding="utf-8"?>
<p:tagLst xmlns:p="http://schemas.openxmlformats.org/presentationml/2006/main">
  <p:tag name="KSO_WM_SLIDE_BACKGROUND_TYPE" val="general"/>
</p:tagLst>
</file>

<file path=ppt/tags/tag64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5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SLIDE_BACKGROUND_TYPE" val="general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0.xml><?xml version="1.0" encoding="utf-8"?>
<p:tagLst xmlns:p="http://schemas.openxmlformats.org/presentationml/2006/main">
  <p:tag name="KSO_WM_SLIDE_BACKGROUND_TYPE" val="general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ABLE_BEAUTIFY" val="smartTable{bdc24706-588f-4f17-b296-cfc82f7511d3}"/>
  <p:tag name="TABLE_ENDDRAG_ORIGIN_RECT" val="735*367"/>
  <p:tag name="TABLE_ENDDRAG_RECT" val="56*167*735*367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8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83.xml><?xml version="1.0" encoding="utf-8"?>
<p:tagLst xmlns:p="http://schemas.openxmlformats.org/presentationml/2006/main">
  <p:tag name="KSO_WM_SLIDE_BACKGROUND_TYPE" val="general"/>
</p:tagLst>
</file>

<file path=ppt/tags/tag68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.4"/>
  <p:tag name="KSO_WM_UNIT_FILL_FORE_SCHEMECOLOR_INDEX" val="7"/>
  <p:tag name="KSO_WM_UNIT_FILL_TYPE" val="1"/>
</p:tagLst>
</file>

<file path=ppt/tags/tag68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0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3.xml><?xml version="1.0" encoding="utf-8"?>
<p:tagLst xmlns:p="http://schemas.openxmlformats.org/presentationml/2006/main">
  <p:tag name="KSO_WM_SLIDE_BACKGROUND_TYPE" val="general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1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2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74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4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4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5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5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5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1810</Words>
  <Application>WPS 演示</Application>
  <PresentationFormat>宽屏</PresentationFormat>
  <Paragraphs>206</Paragraphs>
  <Slides>13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Calibri</vt:lpstr>
      <vt:lpstr>Lato Light</vt:lpstr>
      <vt:lpstr>Lato</vt:lpstr>
      <vt:lpstr>MS PGothic</vt:lpstr>
      <vt:lpstr>Lato Black</vt:lpstr>
      <vt:lpstr>Times New Roman</vt:lpstr>
      <vt:lpstr>Times New Roman</vt:lpstr>
      <vt:lpstr>Courier New</vt:lpstr>
      <vt:lpstr>等线</vt:lpstr>
      <vt:lpstr>Arial Unicode MS</vt:lpstr>
      <vt:lpstr>Calibri Light</vt:lpstr>
      <vt:lpstr>黑体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453</cp:revision>
  <dcterms:created xsi:type="dcterms:W3CDTF">2020-10-23T09:50:00Z</dcterms:created>
  <dcterms:modified xsi:type="dcterms:W3CDTF">2024-08-02T08:10:15Z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6347D30596E34E5AA01D602C82F9FC50_12</vt:lpwstr>
  </property>
  <property fmtid="{D5CDD505-2E9C-101B-9397-08002B2CF9AE}" pid="3" name="KSOProductBuildVer">
    <vt:lpwstr>2052-12.1.0.17147</vt:lpwstr>
  </property>
</Properties>
</file>